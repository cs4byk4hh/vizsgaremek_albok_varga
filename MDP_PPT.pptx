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82" r:id="rId13"/>
    <p:sldId id="283" r:id="rId14"/>
    <p:sldId id="284" r:id="rId15"/>
    <p:sldId id="288" r:id="rId16"/>
    <p:sldId id="286" r:id="rId17"/>
    <p:sldId id="289" r:id="rId18"/>
    <p:sldId id="280" r:id="rId19"/>
    <p:sldId id="281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90" r:id="rId28"/>
    <p:sldId id="274" r:id="rId29"/>
    <p:sldId id="291" r:id="rId30"/>
    <p:sldId id="277" r:id="rId31"/>
    <p:sldId id="275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6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35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39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79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15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73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217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9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90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00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71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2608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31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973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846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94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58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7958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AB1B1052-103A-3FAA-FF1A-72A89C3B8B7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l="9091" t="11213" b="1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298D14-EC0B-6249-6ECF-439F5B735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hu-HU" dirty="0"/>
              <a:t>MDP Vizsgaremek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69CC3-7599-B07C-BA1F-5F3E81519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hu-HU" dirty="0"/>
              <a:t>Készítette: Albók Csaba, Varga-ádám róbert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509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053C0-D070-6677-EBD1-FDC843D32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r>
              <a:rPr lang="hu-HU" dirty="0"/>
              <a:t>Bevezetés</a:t>
            </a:r>
          </a:p>
        </p:txBody>
      </p:sp>
      <p:sp>
        <p:nvSpPr>
          <p:cNvPr id="1047" name="Freeform: Shape 1046">
            <a:extLst>
              <a:ext uri="{FF2B5EF4-FFF2-40B4-BE49-F238E27FC236}">
                <a16:creationId xmlns:a16="http://schemas.microsoft.com/office/drawing/2014/main" id="{C2167F82-BD57-4D9B-BCC3-A4F13118BB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1049" name="Freeform 23">
            <a:extLst>
              <a:ext uri="{FF2B5EF4-FFF2-40B4-BE49-F238E27FC236}">
                <a16:creationId xmlns:a16="http://schemas.microsoft.com/office/drawing/2014/main" id="{4CBF4B90-A27B-4E6A-B288-303118BA631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Why use Node.js? The key to building scalable and fast web applications">
            <a:extLst>
              <a:ext uri="{FF2B5EF4-FFF2-40B4-BE49-F238E27FC236}">
                <a16:creationId xmlns:a16="http://schemas.microsoft.com/office/drawing/2014/main" id="{7B23C713-2F49-AD45-FD09-28C91922E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16129" y="685249"/>
            <a:ext cx="2627752" cy="262775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C77A50A-7946-4C3E-A197-2F4ACE08160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6594-E36B-5024-D21A-BF2AAA468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hu-HU" dirty="0"/>
              <a:t>Projekt neve: Maison De Parfum (MDP)</a:t>
            </a:r>
          </a:p>
          <a:p>
            <a:pPr>
              <a:lnSpc>
                <a:spcPct val="90000"/>
              </a:lnSpc>
            </a:pPr>
            <a:r>
              <a:rPr lang="hu-HU" dirty="0"/>
              <a:t>Projekt </a:t>
            </a:r>
            <a:r>
              <a:rPr lang="hu-HU" dirty="0" smtClean="0"/>
              <a:t>elkészítéséhez </a:t>
            </a:r>
            <a:r>
              <a:rPr lang="hu-HU" dirty="0"/>
              <a:t>használt technológiák: Angular (v19), Bootstrap (v5), node.js (v20.18.0), Express.js (v5.2.1), Sequelize (v6.37.7), MySQL</a:t>
            </a:r>
          </a:p>
          <a:p>
            <a:pPr>
              <a:lnSpc>
                <a:spcPct val="90000"/>
              </a:lnSpc>
            </a:pPr>
            <a:r>
              <a:rPr lang="hu-HU" dirty="0"/>
              <a:t>Projekt felosztása: </a:t>
            </a:r>
            <a:endParaRPr lang="hu-HU" dirty="0" smtClean="0"/>
          </a:p>
          <a:p>
            <a:pPr lvl="1">
              <a:lnSpc>
                <a:spcPct val="90000"/>
              </a:lnSpc>
            </a:pPr>
            <a:r>
              <a:rPr lang="hu-HU" dirty="0" smtClean="0"/>
              <a:t>Frontend: </a:t>
            </a:r>
            <a:r>
              <a:rPr lang="hu-HU" dirty="0"/>
              <a:t>Varga-Ádám Róbert </a:t>
            </a:r>
          </a:p>
          <a:p>
            <a:pPr lvl="1">
              <a:lnSpc>
                <a:spcPct val="90000"/>
              </a:lnSpc>
            </a:pPr>
            <a:r>
              <a:rPr lang="hu-HU" dirty="0"/>
              <a:t>Backend, Adatbázis, Szoftvertesztelés: Albók Csaba</a:t>
            </a:r>
          </a:p>
        </p:txBody>
      </p:sp>
      <p:pic>
        <p:nvPicPr>
          <p:cNvPr id="1042" name="Picture 18" descr="Bootstrap Icons, Logos, Symbols – Free Download PNG, SVG">
            <a:extLst>
              <a:ext uri="{FF2B5EF4-FFF2-40B4-BE49-F238E27FC236}">
                <a16:creationId xmlns:a16="http://schemas.microsoft.com/office/drawing/2014/main" id="{66993AFA-950F-CAEF-D5F3-B64C52507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08" y="685248"/>
            <a:ext cx="2627752" cy="262775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ngular Logo editorial photography. Illustration of background - 136767237">
            <a:extLst>
              <a:ext uri="{FF2B5EF4-FFF2-40B4-BE49-F238E27FC236}">
                <a16:creationId xmlns:a16="http://schemas.microsoft.com/office/drawing/2014/main" id="{8737D7F3-E92A-F38C-67DE-12A9F9FD9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08" y="3967405"/>
            <a:ext cx="2627752" cy="1859134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et's Build: Express.js Backend Application | by Amaan | Medium">
            <a:extLst>
              <a:ext uri="{FF2B5EF4-FFF2-40B4-BE49-F238E27FC236}">
                <a16:creationId xmlns:a16="http://schemas.microsoft.com/office/drawing/2014/main" id="{E524463A-DDA3-4D33-8A1D-E002063FC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16129" y="4486386"/>
            <a:ext cx="2627752" cy="82117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097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C8D80-ABB4-AB9C-DE7E-B12F6CB59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566" y="472174"/>
            <a:ext cx="9404723" cy="1400530"/>
          </a:xfrm>
        </p:spPr>
        <p:txBody>
          <a:bodyPr/>
          <a:lstStyle/>
          <a:p>
            <a:r>
              <a:rPr lang="hu-HU" dirty="0"/>
              <a:t>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86C64-E11C-8904-3A98-9355FE960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64" y="1595718"/>
            <a:ext cx="4938527" cy="4707805"/>
          </a:xfrm>
        </p:spPr>
        <p:txBody>
          <a:bodyPr>
            <a:normAutofit lnSpcReduction="10000"/>
          </a:bodyPr>
          <a:lstStyle/>
          <a:p>
            <a:r>
              <a:rPr lang="hu-HU" dirty="0" smtClean="0"/>
              <a:t>Mappastruktúra</a:t>
            </a:r>
            <a:r>
              <a:rPr lang="hu-HU" dirty="0"/>
              <a:t>:</a:t>
            </a:r>
          </a:p>
          <a:p>
            <a:r>
              <a:rPr lang="hu-HU" dirty="0"/>
              <a:t>Config: adatbázis kapcsolás, JWT  generálás</a:t>
            </a:r>
          </a:p>
          <a:p>
            <a:r>
              <a:rPr lang="hu-HU" dirty="0"/>
              <a:t>Controllers: üzleti logika</a:t>
            </a:r>
          </a:p>
          <a:p>
            <a:r>
              <a:rPr lang="hu-HU" dirty="0" err="1"/>
              <a:t>Middlewares</a:t>
            </a:r>
            <a:r>
              <a:rPr lang="hu-HU" dirty="0"/>
              <a:t>: JWT ellenőrzés</a:t>
            </a:r>
          </a:p>
          <a:p>
            <a:r>
              <a:rPr lang="hu-HU" dirty="0"/>
              <a:t>Models: adatbázis sémák, kapcsolatok definiálása</a:t>
            </a:r>
          </a:p>
          <a:p>
            <a:r>
              <a:rPr lang="hu-HU" dirty="0"/>
              <a:t>Routes: API útvonalak</a:t>
            </a:r>
          </a:p>
          <a:p>
            <a:r>
              <a:rPr lang="hu-HU" dirty="0"/>
              <a:t>Seeders: Kezdeti adatok feltöltése</a:t>
            </a:r>
          </a:p>
          <a:p>
            <a:r>
              <a:rPr lang="hu-HU" dirty="0"/>
              <a:t>.env: </a:t>
            </a:r>
            <a:r>
              <a:rPr lang="hu-HU" dirty="0" smtClean="0"/>
              <a:t>környezeti </a:t>
            </a:r>
            <a:r>
              <a:rPr lang="hu-HU" dirty="0"/>
              <a:t>változók</a:t>
            </a:r>
          </a:p>
          <a:p>
            <a:r>
              <a:rPr lang="hu-HU" dirty="0"/>
              <a:t>.server.js: alkalmazás belépési pontja 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854" y="1484882"/>
            <a:ext cx="3681607" cy="351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528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DA910-2EA5-B702-8E1A-3306D472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BBB2C-5207-2138-E169-B2DFA665E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4091258" cy="4195481"/>
          </a:xfrm>
        </p:spPr>
        <p:txBody>
          <a:bodyPr/>
          <a:lstStyle/>
          <a:p>
            <a:r>
              <a:rPr lang="hu-HU" dirty="0"/>
              <a:t>A backendben egy nagyon fontos middleware van, ami figyeli, hogy a felhasználó rendelkezik-e az adott pillanatban </a:t>
            </a:r>
            <a:r>
              <a:rPr lang="hu-HU" dirty="0" err="1"/>
              <a:t>tokennel</a:t>
            </a:r>
            <a:r>
              <a:rPr lang="hu-HU" dirty="0"/>
              <a:t>.</a:t>
            </a:r>
          </a:p>
          <a:p>
            <a:r>
              <a:rPr lang="hu-HU" dirty="0"/>
              <a:t>tokenBlackList: Lokálisan tárolja a már nem használatban </a:t>
            </a:r>
            <a:r>
              <a:rPr lang="hu-HU" dirty="0" smtClean="0"/>
              <a:t>lévő, vagy lejárt </a:t>
            </a:r>
            <a:r>
              <a:rPr lang="hu-HU" dirty="0"/>
              <a:t>tokeneket.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9EB81-7C2C-04FB-7B52-242A3E3F9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3" t="6306" r="7071" b="6602"/>
          <a:stretch>
            <a:fillRect/>
          </a:stretch>
        </p:blipFill>
        <p:spPr>
          <a:xfrm>
            <a:off x="5329915" y="452718"/>
            <a:ext cx="6215974" cy="597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200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A389-41B1-3283-F625-D9336777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 kapcsolat és táblák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94FF1-E2B8-C9BF-B276-462DA5769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3896705" cy="4195481"/>
          </a:xfrm>
        </p:spPr>
        <p:txBody>
          <a:bodyPr/>
          <a:lstStyle/>
          <a:p>
            <a:r>
              <a:rPr lang="hu-HU" dirty="0"/>
              <a:t>A backend összekapcsolását az </a:t>
            </a:r>
            <a:r>
              <a:rPr lang="hu-HU" dirty="0" smtClean="0"/>
              <a:t>adatbázissal </a:t>
            </a:r>
            <a:r>
              <a:rPr lang="hu-HU" dirty="0"/>
              <a:t>a sequelize segítségével értem el.</a:t>
            </a:r>
          </a:p>
          <a:p>
            <a:r>
              <a:rPr lang="hu-HU" dirty="0"/>
              <a:t>Az adatbázis </a:t>
            </a:r>
            <a:r>
              <a:rPr lang="hu-HU" dirty="0" smtClean="0"/>
              <a:t>szinkronizálásánál </a:t>
            </a:r>
            <a:r>
              <a:rPr lang="hu-HU" dirty="0"/>
              <a:t>lefutó 2 metódus feltölti a megfelelő adatokkal a táblákat.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536E1-9ABD-9ABE-281C-BF0FBC1DA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11551" r="5299" b="11862"/>
          <a:stretch>
            <a:fillRect/>
          </a:stretch>
        </p:blipFill>
        <p:spPr>
          <a:xfrm>
            <a:off x="5486401" y="1381327"/>
            <a:ext cx="5602288" cy="2324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BA5F06-4E40-2BE9-0AC5-0A755AE64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9" t="12384" r="5299" b="12382"/>
          <a:stretch>
            <a:fillRect/>
          </a:stretch>
        </p:blipFill>
        <p:spPr>
          <a:xfrm>
            <a:off x="5486401" y="4017523"/>
            <a:ext cx="5602288" cy="223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62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0F7302AF-86B9-441B-8D24-AC382E2A43A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9A2A6C2-D371-4C6B-B50F-CC71C6D0103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F07A6A6-E44B-411E-AA18-65E4811366A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CC3468F-5EED-42B0-8507-F30360E1D51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91711EE-029D-453C-9AE9-E87829F1D3D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5D5A8E14-301B-40C0-A174-D2232EF95C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E4EB8-9CAE-CFF3-FA9A-AD695D0CB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58" y="4542502"/>
            <a:ext cx="9181185" cy="118998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000" dirty="0" err="1"/>
              <a:t>Adatbázis</a:t>
            </a:r>
            <a:r>
              <a:rPr lang="en-US" sz="6000" dirty="0"/>
              <a:t> </a:t>
            </a:r>
            <a:r>
              <a:rPr lang="en-US" sz="6000" dirty="0" err="1"/>
              <a:t>táblák</a:t>
            </a:r>
            <a:r>
              <a:rPr lang="hu-HU" sz="6000" dirty="0"/>
              <a:t>, index.js</a:t>
            </a:r>
            <a:endParaRPr lang="en-US" sz="6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C1C69-3E02-1EC6-81B1-BF721F7A20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6" t="5275" r="6348" b="5348"/>
          <a:stretch>
            <a:fillRect/>
          </a:stretch>
        </p:blipFill>
        <p:spPr>
          <a:xfrm>
            <a:off x="227832" y="302047"/>
            <a:ext cx="3552964" cy="423122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609E69-7CE0-B694-80D4-33F8C0FCE1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7" t="6601" r="7019" b="6601"/>
          <a:stretch>
            <a:fillRect/>
          </a:stretch>
        </p:blipFill>
        <p:spPr>
          <a:xfrm>
            <a:off x="3870195" y="364366"/>
            <a:ext cx="3207348" cy="417813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3" name="Kép 2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6" t="7678" r="6266" b="7474"/>
          <a:stretch/>
        </p:blipFill>
        <p:spPr>
          <a:xfrm>
            <a:off x="7233030" y="723121"/>
            <a:ext cx="4733164" cy="382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92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69A21-A498-F262-9FDB-1BD985563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API Végpontok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F2A65-217B-E717-0758-C56295343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469" y="1331259"/>
            <a:ext cx="4529003" cy="5074023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Legfontosabb kiemelni a vélemények API-</a:t>
            </a:r>
            <a:r>
              <a:rPr lang="hu-HU" dirty="0" err="1"/>
              <a:t>kat</a:t>
            </a:r>
            <a:r>
              <a:rPr lang="hu-HU" dirty="0"/>
              <a:t>, mivel a webshopban ezek a legkiemelkedőbb funkciók</a:t>
            </a:r>
          </a:p>
          <a:p>
            <a:r>
              <a:rPr lang="hu-HU" dirty="0"/>
              <a:t>CRUD műveletek</a:t>
            </a:r>
          </a:p>
          <a:p>
            <a:r>
              <a:rPr lang="hu-HU" dirty="0"/>
              <a:t>POST: /velemenyek: létrehozza a véleményt</a:t>
            </a:r>
          </a:p>
          <a:p>
            <a:r>
              <a:rPr lang="hu-HU" dirty="0"/>
              <a:t>DELETE: /velemenyek/:id: Törli a megadott azonosítójú véleményt az adatbázisból</a:t>
            </a:r>
          </a:p>
          <a:p>
            <a:r>
              <a:rPr lang="hu-HU" dirty="0"/>
              <a:t>PUT: /velemenyek/:id: </a:t>
            </a:r>
            <a:r>
              <a:rPr lang="hu-HU" dirty="0" smtClean="0"/>
              <a:t>Frissíti a </a:t>
            </a:r>
            <a:r>
              <a:rPr lang="hu-HU" dirty="0"/>
              <a:t>megadott azonosítójú véleményt az adatbázisban</a:t>
            </a:r>
          </a:p>
          <a:p>
            <a:r>
              <a:rPr lang="hu-HU" dirty="0"/>
              <a:t>GET: /velemenyek: Lekéri az adatbázisban lévő összes véleményt</a:t>
            </a:r>
          </a:p>
          <a:p>
            <a:endParaRPr lang="hu-H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62A2BB-DBAA-E7D6-BD7F-1AD697817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8227" r="5213" b="7943"/>
          <a:stretch>
            <a:fillRect/>
          </a:stretch>
        </p:blipFill>
        <p:spPr>
          <a:xfrm>
            <a:off x="5348472" y="189690"/>
            <a:ext cx="6288446" cy="3477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9A2CE3-7730-5CEA-C176-1D46903C4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3" t="13365" r="4553" b="12311"/>
          <a:stretch>
            <a:fillRect/>
          </a:stretch>
        </p:blipFill>
        <p:spPr>
          <a:xfrm>
            <a:off x="5348472" y="3831132"/>
            <a:ext cx="6479267" cy="234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3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B1A4C-1493-0B34-4D62-1AFCC57DC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Törlés és Frissítés API-k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18A2F-83A7-B206-BEDE-B584FC8DB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6" t="6601" r="4312" b="6601"/>
          <a:stretch>
            <a:fillRect/>
          </a:stretch>
        </p:blipFill>
        <p:spPr>
          <a:xfrm>
            <a:off x="243191" y="1414990"/>
            <a:ext cx="5272392" cy="48050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986823-B27D-D263-03E0-99E74AB50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4" t="5390" r="4165" b="6601"/>
          <a:stretch>
            <a:fillRect/>
          </a:stretch>
        </p:blipFill>
        <p:spPr>
          <a:xfrm>
            <a:off x="6096000" y="1322578"/>
            <a:ext cx="5768501" cy="489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9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5F082-4588-5A08-AC6F-A771D110A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Vélemények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FEDF7-21B4-F5D1-9D88-48947D709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77" y="2072182"/>
            <a:ext cx="4207990" cy="2713635"/>
          </a:xfrm>
        </p:spPr>
        <p:txBody>
          <a:bodyPr/>
          <a:lstStyle/>
          <a:p>
            <a:r>
              <a:rPr lang="hu-HU" dirty="0" smtClean="0"/>
              <a:t>Fontos, hogy az </a:t>
            </a:r>
            <a:r>
              <a:rPr lang="hu-HU" dirty="0" err="1" smtClean="0"/>
              <a:t>authenticationtoken</a:t>
            </a:r>
            <a:r>
              <a:rPr lang="hu-HU" dirty="0" smtClean="0"/>
              <a:t> ott legyen a megfelelő végpontoknál, hogy bizonyos funkciókat csak a bejelentkezett </a:t>
            </a:r>
            <a:r>
              <a:rPr lang="hu-HU" dirty="0" err="1" smtClean="0"/>
              <a:t>tokennel</a:t>
            </a:r>
            <a:r>
              <a:rPr lang="hu-HU" dirty="0" smtClean="0"/>
              <a:t> rendelkező felhasználók tudjanak elvégezni.</a:t>
            </a:r>
            <a:endParaRPr lang="hu-H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BA36A-8D91-1818-601B-A906E6A88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t="12130" r="5298" b="11130"/>
          <a:stretch>
            <a:fillRect/>
          </a:stretch>
        </p:blipFill>
        <p:spPr>
          <a:xfrm>
            <a:off x="4727642" y="1738881"/>
            <a:ext cx="7298987" cy="338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276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D2C80-3029-8E5E-D290-464118F39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Seeders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2148F-6E05-470E-8E05-61F877537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214" y="1853248"/>
            <a:ext cx="3672969" cy="4195481"/>
          </a:xfrm>
        </p:spPr>
        <p:txBody>
          <a:bodyPr/>
          <a:lstStyle/>
          <a:p>
            <a:r>
              <a:rPr lang="hu-HU" dirty="0"/>
              <a:t>Admin seed. A backend első elindításakor a felhasználók táblába 2 előre generált admin felhasználó kerül be. Az adminok számára elérhető az összes felhasználó táblázat formájában. A felhasználókkal ellentétben, mindenhez joguk van hozzáférni és kezelni!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264D15-4EDF-56D7-87F4-64BDDD606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5" t="5957" r="5100" b="5248"/>
          <a:stretch>
            <a:fillRect/>
          </a:stretch>
        </p:blipFill>
        <p:spPr>
          <a:xfrm>
            <a:off x="4961108" y="452718"/>
            <a:ext cx="6488348" cy="608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105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C4CC5-AE35-0DD9-A0BD-ED69964DE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Server.js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D39A4-2784-BC99-C098-17CEABA11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3993982" cy="4195481"/>
          </a:xfrm>
        </p:spPr>
        <p:txBody>
          <a:bodyPr/>
          <a:lstStyle/>
          <a:p>
            <a:r>
              <a:rPr lang="hu-HU" dirty="0"/>
              <a:t>Ide importálódik minden Route, Adatbázis tábla.</a:t>
            </a:r>
          </a:p>
          <a:p>
            <a:r>
              <a:rPr lang="hu-HU" dirty="0"/>
              <a:t>Adatbázis szinkronizálás.</a:t>
            </a:r>
          </a:p>
          <a:p>
            <a:r>
              <a:rPr lang="hu-HU" dirty="0" smtClean="0"/>
              <a:t>Parfüm</a:t>
            </a:r>
            <a:r>
              <a:rPr lang="hu-HU" dirty="0"/>
              <a:t>, illetve Admin seed.</a:t>
            </a:r>
          </a:p>
          <a:p>
            <a:r>
              <a:rPr lang="hu-HU" dirty="0"/>
              <a:t>Itt indul a szerver.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043CD-3630-A571-872E-E41135554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5" t="4397" r="5576" b="3688"/>
          <a:stretch>
            <a:fillRect/>
          </a:stretch>
        </p:blipFill>
        <p:spPr>
          <a:xfrm>
            <a:off x="5856052" y="277237"/>
            <a:ext cx="4953539" cy="630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99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Frontend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4039" y="1558611"/>
            <a:ext cx="2789815" cy="4587212"/>
          </a:xfrm>
        </p:spPr>
        <p:txBody>
          <a:bodyPr>
            <a:normAutofit fontScale="85000" lnSpcReduction="10000"/>
          </a:bodyPr>
          <a:lstStyle/>
          <a:p>
            <a:r>
              <a:rPr lang="hu-HU" dirty="0" smtClean="0"/>
              <a:t>Mappastruktúra</a:t>
            </a:r>
            <a:endParaRPr lang="hu-HU" dirty="0"/>
          </a:p>
          <a:p>
            <a:r>
              <a:rPr lang="hu-HU" dirty="0" err="1"/>
              <a:t>Assets</a:t>
            </a:r>
            <a:r>
              <a:rPr lang="hu-HU" dirty="0"/>
              <a:t> mappa: ebbe vannak a képek, amiket használtunk az oldal felépítéséhez.</a:t>
            </a:r>
          </a:p>
          <a:p>
            <a:r>
              <a:rPr lang="hu-HU" dirty="0" err="1"/>
              <a:t>Admin</a:t>
            </a:r>
            <a:r>
              <a:rPr lang="hu-HU" dirty="0"/>
              <a:t>-&gt;</a:t>
            </a:r>
            <a:r>
              <a:rPr lang="hu-HU" dirty="0" err="1"/>
              <a:t>Register</a:t>
            </a:r>
            <a:r>
              <a:rPr lang="hu-HU" dirty="0"/>
              <a:t>: ezek a komponensek</a:t>
            </a:r>
          </a:p>
          <a:p>
            <a:r>
              <a:rPr lang="hu-HU" dirty="0" err="1"/>
              <a:t>Guards</a:t>
            </a:r>
            <a:r>
              <a:rPr lang="hu-HU" dirty="0"/>
              <a:t> mappa: Szabályozza a felhasználók tevékenységeit</a:t>
            </a:r>
          </a:p>
          <a:p>
            <a:r>
              <a:rPr lang="hu-HU" dirty="0" err="1"/>
              <a:t>Services</a:t>
            </a:r>
            <a:r>
              <a:rPr lang="hu-HU" dirty="0"/>
              <a:t> mappa: adatok lekérésére és kezelésére szolgál.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687" y="1266109"/>
            <a:ext cx="2619741" cy="4048690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790" y="1152983"/>
            <a:ext cx="2686425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878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App-routing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103312" y="2052918"/>
            <a:ext cx="2845233" cy="4195481"/>
          </a:xfrm>
        </p:spPr>
        <p:txBody>
          <a:bodyPr/>
          <a:lstStyle/>
          <a:p>
            <a:r>
              <a:rPr lang="hu-HU" dirty="0"/>
              <a:t>Ez a rész, ez azért felelős, hogy az oldalon a felhasználó az oldalak között tudjon navigálni, itt van az összes komponens importja, ahogy az oldal betölt a </a:t>
            </a:r>
            <a:r>
              <a:rPr lang="hu-HU" dirty="0" err="1"/>
              <a:t>home</a:t>
            </a:r>
            <a:r>
              <a:rPr lang="hu-HU" dirty="0"/>
              <a:t> komponens fog megjelenni.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1" t="7541" r="5524" b="5389"/>
          <a:stretch/>
        </p:blipFill>
        <p:spPr>
          <a:xfrm>
            <a:off x="5522102" y="452718"/>
            <a:ext cx="6054437" cy="597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14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5560725" cy="1400530"/>
          </a:xfrm>
        </p:spPr>
        <p:txBody>
          <a:bodyPr/>
          <a:lstStyle/>
          <a:p>
            <a:r>
              <a:rPr lang="hu-HU" dirty="0"/>
              <a:t>Vélemények service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103312" y="2052918"/>
            <a:ext cx="3943473" cy="3670873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Ez a kód egy </a:t>
            </a:r>
            <a:r>
              <a:rPr lang="hu-HU" dirty="0" err="1"/>
              <a:t>Angular</a:t>
            </a:r>
            <a:r>
              <a:rPr lang="hu-HU" dirty="0"/>
              <a:t> </a:t>
            </a:r>
            <a:r>
              <a:rPr lang="hu-HU" b="1" dirty="0"/>
              <a:t>szolgáltatást (Service)</a:t>
            </a:r>
            <a:r>
              <a:rPr lang="hu-HU" dirty="0"/>
              <a:t> definiál, amely HTTP-kéréseken keresztül kezeli a véleményekkel kapcsolatos adatokat egy helyi backend szerverről. Lehetővé teszi a vélemények </a:t>
            </a:r>
            <a:r>
              <a:rPr lang="hu-HU" b="1" dirty="0"/>
              <a:t>lekérését, hozzáadását, törlését és módosítását</a:t>
            </a:r>
            <a:r>
              <a:rPr lang="hu-HU" dirty="0"/>
              <a:t>, biztosítva ezzel a teljes körű </a:t>
            </a:r>
            <a:r>
              <a:rPr lang="hu-HU" dirty="0" err="1"/>
              <a:t>adatszinkronizációt</a:t>
            </a:r>
            <a:r>
              <a:rPr lang="hu-HU" dirty="0"/>
              <a:t> a felület és az adatbázis között.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0" t="5116" r="5870" b="5188"/>
          <a:stretch/>
        </p:blipFill>
        <p:spPr>
          <a:xfrm>
            <a:off x="6386944" y="452718"/>
            <a:ext cx="5181601" cy="615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97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46112" y="452718"/>
            <a:ext cx="3551815" cy="1400530"/>
          </a:xfrm>
        </p:spPr>
        <p:txBody>
          <a:bodyPr/>
          <a:lstStyle/>
          <a:p>
            <a:r>
              <a:rPr lang="hu-HU" dirty="0"/>
              <a:t>Vélemények metódusok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99749" y="2052918"/>
            <a:ext cx="4369233" cy="4195481"/>
          </a:xfrm>
        </p:spPr>
        <p:txBody>
          <a:bodyPr/>
          <a:lstStyle/>
          <a:p>
            <a:r>
              <a:rPr lang="hu-HU" sz="1400" b="1" dirty="0"/>
              <a:t>Adatkezelés (CRUD):</a:t>
            </a:r>
            <a:r>
              <a:rPr lang="hu-HU" sz="1400" dirty="0"/>
              <a:t> Lekéri a szerverről a meglévő véleményeket, új bejegyzéseket küld a </a:t>
            </a:r>
            <a:r>
              <a:rPr lang="hu-HU" sz="1400" dirty="0" err="1"/>
              <a:t>form</a:t>
            </a:r>
            <a:r>
              <a:rPr lang="hu-HU" sz="1400" dirty="0"/>
              <a:t> segítségével, illetve lehetőséget ad a meglévők módosítására (prompt ablakon keresztül) és törlésére</a:t>
            </a:r>
            <a:r>
              <a:rPr lang="hu-HU" sz="1400" dirty="0" smtClean="0"/>
              <a:t>.</a:t>
            </a:r>
          </a:p>
          <a:p>
            <a:pPr lvl="0"/>
            <a:r>
              <a:rPr lang="hu-HU" altLang="hu-HU" sz="1400" b="1" dirty="0"/>
              <a:t>Hitelesítés és Biztonság:</a:t>
            </a:r>
            <a:r>
              <a:rPr lang="hu-HU" altLang="hu-HU" sz="1400" dirty="0"/>
              <a:t> A műveletekhez a localStorage-</a:t>
            </a:r>
            <a:r>
              <a:rPr lang="hu-HU" altLang="hu-HU" sz="1400" dirty="0" err="1"/>
              <a:t>ból</a:t>
            </a:r>
            <a:r>
              <a:rPr lang="hu-HU" altLang="hu-HU" sz="1400" dirty="0"/>
              <a:t> kinyert </a:t>
            </a:r>
            <a:r>
              <a:rPr lang="hu-HU" altLang="hu-HU" sz="1400" dirty="0" err="1"/>
              <a:t>Authorization</a:t>
            </a:r>
            <a:r>
              <a:rPr lang="hu-HU" altLang="hu-HU" sz="1400" dirty="0"/>
              <a:t> </a:t>
            </a:r>
            <a:r>
              <a:rPr lang="hu-HU" altLang="hu-HU" sz="1400" dirty="0" err="1"/>
              <a:t>tokent</a:t>
            </a:r>
            <a:r>
              <a:rPr lang="hu-HU" altLang="hu-HU" sz="1400" dirty="0"/>
              <a:t> használja, emellett tartalmaz egy kijelentkezési logikát, amely </a:t>
            </a:r>
            <a:r>
              <a:rPr lang="hu-HU" altLang="hu-HU" sz="1400" dirty="0" err="1"/>
              <a:t>törli</a:t>
            </a:r>
            <a:r>
              <a:rPr lang="hu-HU" altLang="hu-HU" sz="1400" dirty="0"/>
              <a:t> a munkamenetet és visszairányít a bejelentkező oldalra. </a:t>
            </a:r>
            <a:endParaRPr lang="hu-HU" altLang="hu-HU" sz="1400" dirty="0" smtClean="0"/>
          </a:p>
          <a:p>
            <a:r>
              <a:rPr lang="hu-HU" altLang="hu-HU" sz="1400" b="1" dirty="0"/>
              <a:t>Felhasználói visszajelzés:</a:t>
            </a:r>
            <a:r>
              <a:rPr lang="hu-HU" altLang="hu-HU" sz="1400" dirty="0"/>
              <a:t> A </a:t>
            </a:r>
            <a:r>
              <a:rPr lang="hu-HU" altLang="hu-HU" sz="1400" dirty="0" err="1"/>
              <a:t>MatSnackBar</a:t>
            </a:r>
            <a:r>
              <a:rPr lang="hu-HU" altLang="hu-HU" sz="1400" dirty="0"/>
              <a:t> segítségével azonnali értesítéseket küld a műveletek sikerességéről vagy a fellépő hibákról (pl. üres mező, hiányzó bejelentkezés). </a:t>
            </a:r>
          </a:p>
          <a:p>
            <a:pPr lvl="0"/>
            <a:endParaRPr lang="hu-HU" altLang="hu-HU" dirty="0"/>
          </a:p>
          <a:p>
            <a:endParaRPr lang="hu-HU" dirty="0"/>
          </a:p>
          <a:p>
            <a:endParaRPr lang="hu-HU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0" t="5116" r="5870" b="5188"/>
          <a:stretch/>
        </p:blipFill>
        <p:spPr>
          <a:xfrm>
            <a:off x="6386944" y="452718"/>
            <a:ext cx="5181601" cy="615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6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További metódusok a vélemények </a:t>
            </a:r>
            <a:r>
              <a:rPr lang="hu-HU" dirty="0" err="1"/>
              <a:t>ts-ben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9" t="3500" r="3936" b="3975"/>
          <a:stretch/>
        </p:blipFill>
        <p:spPr>
          <a:xfrm>
            <a:off x="6622473" y="1468582"/>
            <a:ext cx="4932218" cy="5212365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8" t="5155" r="4363" b="4654"/>
          <a:stretch/>
        </p:blipFill>
        <p:spPr>
          <a:xfrm>
            <a:off x="1182038" y="1986496"/>
            <a:ext cx="4904509" cy="456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73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4438507" cy="1400530"/>
          </a:xfrm>
        </p:spPr>
        <p:txBody>
          <a:bodyPr/>
          <a:lstStyle/>
          <a:p>
            <a:r>
              <a:rPr lang="hu-HU" dirty="0"/>
              <a:t>Vélemények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103312" y="2052918"/>
            <a:ext cx="3745779" cy="4195481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hu-HU" altLang="hu-HU" sz="1900" b="1" dirty="0"/>
              <a:t>Navigáció és Űrlap:</a:t>
            </a:r>
            <a:r>
              <a:rPr lang="hu-HU" altLang="hu-HU" sz="1900" dirty="0"/>
              <a:t> Tartalmaz egy kijelentkezés gombot, valamint egy szövegbeviteli mezőt (</a:t>
            </a:r>
            <a:r>
              <a:rPr lang="hu-HU" altLang="hu-HU" sz="1900" dirty="0" err="1"/>
              <a:t>textarea</a:t>
            </a:r>
            <a:r>
              <a:rPr lang="hu-HU" altLang="hu-HU" sz="1900" dirty="0"/>
              <a:t>), ahol a felhasználó megírhatja a véleményét, majd azt a "Vélemény Küldés" gombbal elküldheti.</a:t>
            </a:r>
          </a:p>
          <a:p>
            <a:pPr lvl="0"/>
            <a:r>
              <a:rPr lang="hu-HU" altLang="hu-HU" sz="1900" b="1" dirty="0"/>
              <a:t>Dinamikus Lista:</a:t>
            </a:r>
            <a:r>
              <a:rPr lang="hu-HU" altLang="hu-HU" sz="1900" dirty="0"/>
              <a:t> Egy interaktív listában jeleníti meg a már beküldött véleményeket a hozzájuk tartozó felhasználónévvel, és minden elem mellett biztosít egy-egy ikonos gombot a </a:t>
            </a:r>
            <a:r>
              <a:rPr lang="hu-HU" altLang="hu-HU" sz="1900" b="1" dirty="0"/>
              <a:t>törléshez</a:t>
            </a:r>
            <a:r>
              <a:rPr lang="hu-HU" altLang="hu-HU" sz="1900" dirty="0"/>
              <a:t> és a </a:t>
            </a:r>
            <a:r>
              <a:rPr lang="hu-HU" altLang="hu-HU" sz="1900" b="1" dirty="0"/>
              <a:t>szerkesztéshez</a:t>
            </a:r>
            <a:r>
              <a:rPr lang="hu-HU" altLang="hu-HU" sz="1900" dirty="0"/>
              <a:t>.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4" t="3434" r="5164" b="3232"/>
          <a:stretch/>
        </p:blipFill>
        <p:spPr>
          <a:xfrm>
            <a:off x="5449635" y="452718"/>
            <a:ext cx="5306288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4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Admin</a:t>
            </a:r>
            <a:r>
              <a:rPr lang="hu-HU" dirty="0"/>
              <a:t> panel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103312" y="2052918"/>
            <a:ext cx="2845233" cy="4195481"/>
          </a:xfrm>
        </p:spPr>
        <p:txBody>
          <a:bodyPr>
            <a:normAutofit fontScale="70000" lnSpcReduction="20000"/>
          </a:bodyPr>
          <a:lstStyle/>
          <a:p>
            <a:r>
              <a:rPr lang="hu-HU" dirty="0"/>
              <a:t>Ez a HTML kód egy </a:t>
            </a:r>
            <a:r>
              <a:rPr lang="hu-HU" b="1" dirty="0"/>
              <a:t>adminisztrációs felületet</a:t>
            </a:r>
            <a:r>
              <a:rPr lang="hu-HU" dirty="0"/>
              <a:t> hoz létre, ahol egy táblázatban jelennek meg a regisztrált felhasználók adatai (név, email, felhasználónév és szerepkör).</a:t>
            </a:r>
          </a:p>
          <a:p>
            <a:r>
              <a:rPr lang="hu-HU" dirty="0"/>
              <a:t>A kezelőfelület tartalmaz egy fontos </a:t>
            </a:r>
            <a:r>
              <a:rPr lang="hu-HU" b="1" dirty="0"/>
              <a:t>biztonsági logikát</a:t>
            </a:r>
            <a:r>
              <a:rPr lang="hu-HU" dirty="0"/>
              <a:t>: a táblázat minden sorában van egy törlés gomb, de a rendszer letiltja az "</a:t>
            </a:r>
            <a:r>
              <a:rPr lang="hu-HU" dirty="0" err="1"/>
              <a:t>admin</a:t>
            </a:r>
            <a:r>
              <a:rPr lang="hu-HU" dirty="0"/>
              <a:t>" szerepkörű felhasználók eltávolítását, megakadályozva ezzel a véletlen ön-törlést vagy a jogosultságok elvesztését.</a:t>
            </a: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4" t="6062" r="6301" b="5857"/>
          <a:stretch/>
        </p:blipFill>
        <p:spPr>
          <a:xfrm>
            <a:off x="5624946" y="452718"/>
            <a:ext cx="5209309" cy="604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2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Admin</a:t>
            </a:r>
            <a:r>
              <a:rPr lang="hu-HU" dirty="0"/>
              <a:t> scriptek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2" t="4244" r="5286" b="3435"/>
          <a:stretch/>
        </p:blipFill>
        <p:spPr>
          <a:xfrm>
            <a:off x="6257011" y="929588"/>
            <a:ext cx="3990109" cy="5569526"/>
          </a:xfrm>
          <a:prstGeom prst="rect">
            <a:avLst/>
          </a:prstGeom>
        </p:spPr>
      </p:pic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3314" y="2303861"/>
            <a:ext cx="332801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Hozzáférés-védelem: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Az oldal betöltésekor azonnal ellenőrzi a felhasználó szerepkörét és a munkamenet-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tokent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Adatkezelés: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HTTP kéréseken keresztül lekéri a felhasználók listáját, illetve megerősítés után véglegesen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törli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kiválasztott tagot az adatbázisból.</a:t>
            </a:r>
          </a:p>
        </p:txBody>
      </p:sp>
    </p:spTree>
    <p:extLst>
      <p:ext uri="{BB962C8B-B14F-4D97-AF65-F5344CB8AC3E}">
        <p14:creationId xmlns:p14="http://schemas.microsoft.com/office/powerpoint/2010/main" val="425112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1A99E-FDAD-0C39-AF05-D5426AA69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73732-A086-D593-C6A4-E5730741B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3857794" cy="3073559"/>
          </a:xfrm>
        </p:spPr>
        <p:txBody>
          <a:bodyPr/>
          <a:lstStyle/>
          <a:p>
            <a:r>
              <a:rPr lang="hu-HU" dirty="0"/>
              <a:t>Adatbázis neve: maisondb</a:t>
            </a:r>
          </a:p>
          <a:p>
            <a:r>
              <a:rPr lang="hu-HU" dirty="0"/>
              <a:t>Karakterkódolása: UTF-8_hungarian_ci</a:t>
            </a:r>
          </a:p>
          <a:p>
            <a:r>
              <a:rPr lang="hu-HU" dirty="0"/>
              <a:t>5 tábla található az adatbázisban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0E811-9AE5-E881-ED0E-E27A1A7D5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988" y="1313236"/>
            <a:ext cx="4234774" cy="289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0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5F31E-6817-DFFB-6B30-1B6F7D615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 táblák vizuális megjelenítése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49" y="2254929"/>
            <a:ext cx="7519388" cy="398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4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E05E-A7A3-91DB-3033-06A04537E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Táblák a XAMPP-ban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C00FDF-38B1-07B2-1965-96CD23C7A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39" y="2140086"/>
            <a:ext cx="11087910" cy="277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4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375A3-9120-73AE-EC24-D7B08C7EE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Parfümök hozzáadása a perfumes táblához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25698-82F4-4374-A9EC-F08FF18C1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739" y="2121012"/>
            <a:ext cx="3818884" cy="1847874"/>
          </a:xfrm>
        </p:spPr>
        <p:txBody>
          <a:bodyPr/>
          <a:lstStyle/>
          <a:p>
            <a:r>
              <a:rPr lang="hu-HU" dirty="0"/>
              <a:t>Valóban a backendből tölti be az összes parfüm adatot az </a:t>
            </a:r>
            <a:r>
              <a:rPr lang="hu-HU" dirty="0" smtClean="0"/>
              <a:t>adatbázisba, viszont </a:t>
            </a:r>
            <a:r>
              <a:rPr lang="hu-HU" dirty="0"/>
              <a:t>ezt könnyen át lehet </a:t>
            </a:r>
            <a:r>
              <a:rPr lang="hu-HU" dirty="0" smtClean="0"/>
              <a:t>konvertálni </a:t>
            </a:r>
            <a:r>
              <a:rPr lang="hu-HU" dirty="0"/>
              <a:t>sql kódra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2583AC-82C8-74B5-4152-9B4930041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9" t="7612" r="2979" b="6886"/>
          <a:stretch>
            <a:fillRect/>
          </a:stretch>
        </p:blipFill>
        <p:spPr>
          <a:xfrm>
            <a:off x="4527447" y="2286381"/>
            <a:ext cx="7427846" cy="320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6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DEDAA-B9C6-0676-080C-D43B6B52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Parfüm seeder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8691E-ED18-5363-D6EC-09F83941B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344749"/>
            <a:ext cx="3157403" cy="1896512"/>
          </a:xfrm>
        </p:spPr>
        <p:txBody>
          <a:bodyPr/>
          <a:lstStyle/>
          <a:p>
            <a:r>
              <a:rPr lang="hu-HU" dirty="0"/>
              <a:t>A parfümök az adatbázisba a backend első indításakor kerülnek bele.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FFFCE9-02A9-8C7C-8891-07ED6637B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0" t="10733" r="3139" b="10733"/>
          <a:stretch>
            <a:fillRect/>
          </a:stretch>
        </p:blipFill>
        <p:spPr>
          <a:xfrm>
            <a:off x="3628417" y="1989435"/>
            <a:ext cx="8374672" cy="290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6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450DC-34A0-D289-0AB7-94A1E9508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Szoftvertesztelés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0F823-E553-657C-38F4-BB67CEB4D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A tesztelések során „Shift Left” megközelítést alkalmaztunk</a:t>
            </a:r>
          </a:p>
          <a:p>
            <a:r>
              <a:rPr lang="hu-HU" dirty="0"/>
              <a:t>A VSCode automatikus segédfunkcióit </a:t>
            </a:r>
            <a:r>
              <a:rPr lang="hu-HU" dirty="0" smtClean="0"/>
              <a:t>alkalmaztam, </a:t>
            </a:r>
            <a:r>
              <a:rPr lang="hu-HU" dirty="0"/>
              <a:t>amik segítettek kiszűrni a szemantikai hibákat.</a:t>
            </a:r>
          </a:p>
          <a:p>
            <a:r>
              <a:rPr lang="hu-HU" dirty="0"/>
              <a:t>Emellett 4 fő tesztelési formát alkalmaztam:</a:t>
            </a:r>
          </a:p>
          <a:p>
            <a:pPr lvl="0"/>
            <a:r>
              <a:rPr lang="hu-HU" b="1" dirty="0"/>
              <a:t>Egységtesztelés (Unit Testing):</a:t>
            </a:r>
            <a:r>
              <a:rPr lang="hu-HU" dirty="0"/>
              <a:t> A legkisebb kódmodulok izolált vizsgálata.</a:t>
            </a:r>
          </a:p>
          <a:p>
            <a:pPr lvl="0"/>
            <a:r>
              <a:rPr lang="hu-HU" b="1" dirty="0"/>
              <a:t>Integrációs tesztelés:</a:t>
            </a:r>
            <a:r>
              <a:rPr lang="hu-HU" dirty="0"/>
              <a:t> A frontend-backend és az adatbázis kapcsolatának vizsgálata.</a:t>
            </a:r>
          </a:p>
          <a:p>
            <a:pPr lvl="0"/>
            <a:r>
              <a:rPr lang="hu-HU" b="1" dirty="0"/>
              <a:t>Fehér dobozos tesztelés (White-box):</a:t>
            </a:r>
            <a:r>
              <a:rPr lang="hu-HU" dirty="0"/>
              <a:t> A belső kódszerkezet és logika elemzése.</a:t>
            </a:r>
          </a:p>
          <a:p>
            <a:pPr lvl="0"/>
            <a:r>
              <a:rPr lang="hu-HU" b="1" dirty="0"/>
              <a:t>Fekete dobozos tesztelés (Black-box):</a:t>
            </a:r>
            <a:r>
              <a:rPr lang="hu-HU" dirty="0"/>
              <a:t> A pontos működés vizsgálata felhasználói szemszögből.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1196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949BD-6D2B-22A7-AF2F-31AFE2A8B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Egység tesztek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D8641-1296-25EC-D831-F58599D28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853248"/>
            <a:ext cx="8345488" cy="4223191"/>
          </a:xfrm>
        </p:spPr>
        <p:txBody>
          <a:bodyPr>
            <a:normAutofit/>
          </a:bodyPr>
          <a:lstStyle/>
          <a:p>
            <a:pPr lvl="1"/>
            <a:r>
              <a:rPr lang="hu-HU" dirty="0"/>
              <a:t>Vizsgáltuk a regisztrációs folyamat bemeneti ellenőrzéseit.</a:t>
            </a:r>
          </a:p>
          <a:p>
            <a:pPr lvl="1"/>
            <a:r>
              <a:rPr lang="hu-HU" b="1" dirty="0"/>
              <a:t>Teszt:</a:t>
            </a:r>
            <a:r>
              <a:rPr lang="hu-HU" dirty="0"/>
              <a:t> Jelszó hosszúság validáció. Ellenőriztük, hogy a kód helyesen dob-e 400-as hibát (res.status(400)), ha a password.length &lt; 8.</a:t>
            </a:r>
          </a:p>
          <a:p>
            <a:pPr lvl="1"/>
            <a:r>
              <a:rPr lang="hu-HU" dirty="0"/>
              <a:t>Elvárt: 400-as hiba</a:t>
            </a:r>
          </a:p>
          <a:p>
            <a:pPr lvl="1"/>
            <a:r>
              <a:rPr lang="hu-HU" dirty="0" smtClean="0"/>
              <a:t>Kapott</a:t>
            </a:r>
            <a:r>
              <a:rPr lang="hu-HU" dirty="0"/>
              <a:t>: 400-as hiba</a:t>
            </a:r>
          </a:p>
          <a:p>
            <a:pPr lvl="1"/>
            <a:r>
              <a:rPr lang="hu-HU" b="1" dirty="0"/>
              <a:t>Teszt:</a:t>
            </a:r>
            <a:r>
              <a:rPr lang="hu-HU" dirty="0"/>
              <a:t> Hiányzó mezők kezelése. Ha a req.body-ból hiányzik a username vagy email, a rendszernek meg kell állnia hibaüzenettel, mielőtt az adatbázis hívás megtörténne.</a:t>
            </a:r>
          </a:p>
          <a:p>
            <a:pPr lvl="1"/>
            <a:r>
              <a:rPr lang="hu-HU" dirty="0"/>
              <a:t>Elvárt: 401-es státuszkód üzenet: 'Hiányzó adat!’</a:t>
            </a:r>
          </a:p>
          <a:p>
            <a:pPr lvl="1"/>
            <a:r>
              <a:rPr lang="hu-HU" dirty="0"/>
              <a:t>Kapott: 401-es státuszkód üzenet: 'Hiányzó adat!’</a:t>
            </a:r>
          </a:p>
          <a:p>
            <a:pPr lvl="1"/>
            <a:endParaRPr lang="hu-HU" dirty="0"/>
          </a:p>
          <a:p>
            <a:pPr lvl="1"/>
            <a:endParaRPr lang="hu-HU" dirty="0"/>
          </a:p>
          <a:p>
            <a:pPr marL="457200" lvl="1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74746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79" y="1221646"/>
            <a:ext cx="5026293" cy="4208114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854" y="1221646"/>
            <a:ext cx="5364133" cy="420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109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8FC1-245C-DE86-46F2-3431FF2B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Autentikációs Middleware Tesztek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FEA57-A846-6754-B195-695C5E76D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hu-HU" dirty="0"/>
              <a:t>Teszteltük a authenticationtoken middleware működését. Olyan API hívásokat indítottunk (pl. GET /cart/get), amelyek </a:t>
            </a:r>
            <a:r>
              <a:rPr lang="hu-HU" dirty="0" err="1" smtClean="0"/>
              <a:t>tokent</a:t>
            </a:r>
            <a:r>
              <a:rPr lang="hu-HU" dirty="0" smtClean="0"/>
              <a:t> igényelnek</a:t>
            </a:r>
            <a:r>
              <a:rPr lang="hu-HU" dirty="0"/>
              <a:t>.</a:t>
            </a:r>
            <a:endParaRPr lang="hu-HU" sz="1200" dirty="0"/>
          </a:p>
          <a:p>
            <a:pPr lvl="1"/>
            <a:r>
              <a:rPr lang="hu-HU" b="1" dirty="0"/>
              <a:t>Elvárt:</a:t>
            </a:r>
            <a:r>
              <a:rPr lang="hu-HU" dirty="0"/>
              <a:t> Token nélküli hívás -&gt; 403 Forbidden válasz.</a:t>
            </a:r>
          </a:p>
          <a:p>
            <a:pPr lvl="1"/>
            <a:r>
              <a:rPr lang="hu-HU" dirty="0"/>
              <a:t>Kapott: 403</a:t>
            </a:r>
          </a:p>
          <a:p>
            <a:pPr lvl="1"/>
            <a:r>
              <a:rPr lang="hu-HU" b="1" dirty="0"/>
              <a:t>Eset:</a:t>
            </a:r>
            <a:r>
              <a:rPr lang="hu-HU" dirty="0"/>
              <a:t> Frontend localStorage-ból kiolvasott érvényes token fejlécben való elküldése -&gt; 200 OK válasz és az adatok elérése (Sikeres teszt).</a:t>
            </a:r>
          </a:p>
          <a:p>
            <a:pPr lvl="1"/>
            <a:r>
              <a:rPr lang="hu-HU" dirty="0"/>
              <a:t>Elvárt: 200</a:t>
            </a:r>
          </a:p>
          <a:p>
            <a:pPr lvl="1"/>
            <a:r>
              <a:rPr lang="hu-HU" dirty="0"/>
              <a:t>Kapott: 200</a:t>
            </a:r>
          </a:p>
          <a:p>
            <a:pPr lvl="1"/>
            <a:endParaRPr lang="hu-HU" sz="12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5569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44" y="1025018"/>
            <a:ext cx="5126181" cy="4423452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291" y="1025018"/>
            <a:ext cx="5611091" cy="442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05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Továbbfejlesztési</a:t>
            </a:r>
            <a:r>
              <a:rPr lang="hu-HU" dirty="0"/>
              <a:t> lehetőségek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Nodemailer</a:t>
            </a:r>
            <a:r>
              <a:rPr lang="hu-HU" dirty="0"/>
              <a:t> implementálása a backendben, hogy email-t küldhessünk a felhasználónak.</a:t>
            </a:r>
          </a:p>
          <a:p>
            <a:r>
              <a:rPr lang="hu-HU" dirty="0"/>
              <a:t>Fizetési lehetőség a weboldalon.</a:t>
            </a:r>
          </a:p>
          <a:p>
            <a:r>
              <a:rPr lang="hu-HU" dirty="0"/>
              <a:t>Elektromos számla generálása az oldalon, és hozzákapcsolása egy </a:t>
            </a:r>
            <a:r>
              <a:rPr lang="hu-HU" dirty="0" smtClean="0"/>
              <a:t>elektronikus számlakészítő </a:t>
            </a:r>
            <a:r>
              <a:rPr lang="hu-HU" dirty="0"/>
              <a:t>oldalhoz. (</a:t>
            </a:r>
            <a:r>
              <a:rPr lang="hu-HU" dirty="0" err="1"/>
              <a:t>Pl</a:t>
            </a:r>
            <a:r>
              <a:rPr lang="hu-HU" dirty="0"/>
              <a:t>: </a:t>
            </a:r>
            <a:r>
              <a:rPr lang="hu-HU" dirty="0" err="1"/>
              <a:t>Billingo</a:t>
            </a:r>
            <a:r>
              <a:rPr lang="hu-HU" dirty="0"/>
              <a:t>)</a:t>
            </a:r>
          </a:p>
          <a:p>
            <a:r>
              <a:rPr lang="hu-HU" dirty="0"/>
              <a:t>Adatbázis frissítése, és bővítése. Rendelés esetén </a:t>
            </a:r>
            <a:r>
              <a:rPr lang="hu-HU" dirty="0" err="1"/>
              <a:t>pl</a:t>
            </a:r>
            <a:r>
              <a:rPr lang="hu-HU" dirty="0"/>
              <a:t>( </a:t>
            </a:r>
            <a:r>
              <a:rPr lang="hu-HU" dirty="0" err="1"/>
              <a:t>pending</a:t>
            </a:r>
            <a:r>
              <a:rPr lang="hu-HU" dirty="0"/>
              <a:t>, </a:t>
            </a:r>
            <a:r>
              <a:rPr lang="hu-HU" dirty="0" err="1" smtClean="0"/>
              <a:t>accepted</a:t>
            </a:r>
            <a:r>
              <a:rPr lang="hu-HU" dirty="0"/>
              <a:t>, </a:t>
            </a:r>
            <a:r>
              <a:rPr lang="hu-HU" dirty="0" err="1" smtClean="0"/>
              <a:t>declined</a:t>
            </a:r>
            <a:r>
              <a:rPr lang="hu-HU" dirty="0" smtClean="0"/>
              <a:t>)</a:t>
            </a:r>
            <a:endParaRPr lang="hu-HU" dirty="0"/>
          </a:p>
          <a:p>
            <a:r>
              <a:rPr lang="hu-HU" dirty="0"/>
              <a:t>Felhasználó számára profilkép hozzáadásának lehetősége.</a:t>
            </a:r>
          </a:p>
        </p:txBody>
      </p:sp>
    </p:spTree>
    <p:extLst>
      <p:ext uri="{BB962C8B-B14F-4D97-AF65-F5344CB8AC3E}">
        <p14:creationId xmlns:p14="http://schemas.microsoft.com/office/powerpoint/2010/main" val="99385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A8C50-6223-E4CC-6843-FB049937F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005" y="3429000"/>
            <a:ext cx="9404723" cy="1400530"/>
          </a:xfrm>
        </p:spPr>
        <p:txBody>
          <a:bodyPr/>
          <a:lstStyle/>
          <a:p>
            <a:r>
              <a:rPr lang="hu-HU" dirty="0" smtClean="0"/>
              <a:t>Köszönjük </a:t>
            </a:r>
            <a:r>
              <a:rPr lang="hu-HU" dirty="0"/>
              <a:t>a figyelmet!</a:t>
            </a:r>
          </a:p>
        </p:txBody>
      </p:sp>
    </p:spTree>
    <p:extLst>
      <p:ext uri="{BB962C8B-B14F-4D97-AF65-F5344CB8AC3E}">
        <p14:creationId xmlns:p14="http://schemas.microsoft.com/office/powerpoint/2010/main" val="152802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445</TotalTime>
  <Words>1070</Words>
  <Application>Microsoft Office PowerPoint</Application>
  <PresentationFormat>Szélesvásznú</PresentationFormat>
  <Paragraphs>108</Paragraphs>
  <Slides>31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31</vt:i4>
      </vt:variant>
    </vt:vector>
  </HeadingPairs>
  <TitlesOfParts>
    <vt:vector size="35" baseType="lpstr">
      <vt:lpstr>Arial</vt:lpstr>
      <vt:lpstr>Century Gothic</vt:lpstr>
      <vt:lpstr>Wingdings 3</vt:lpstr>
      <vt:lpstr>Ion</vt:lpstr>
      <vt:lpstr>MDP Vizsgaremek</vt:lpstr>
      <vt:lpstr>Bevezetés</vt:lpstr>
      <vt:lpstr>Backend</vt:lpstr>
      <vt:lpstr>Middleware</vt:lpstr>
      <vt:lpstr>Adatbázis kapcsolat és táblák</vt:lpstr>
      <vt:lpstr>Adatbázis táblák, index.js</vt:lpstr>
      <vt:lpstr>API Végpontok</vt:lpstr>
      <vt:lpstr>Törlés és Frissítés API-k</vt:lpstr>
      <vt:lpstr>Vélemények routes</vt:lpstr>
      <vt:lpstr>Seeders</vt:lpstr>
      <vt:lpstr>Server.js</vt:lpstr>
      <vt:lpstr>Frontend</vt:lpstr>
      <vt:lpstr>App-routing</vt:lpstr>
      <vt:lpstr>Vélemények service</vt:lpstr>
      <vt:lpstr>Vélemények metódusok</vt:lpstr>
      <vt:lpstr>További metódusok a vélemények ts-ben</vt:lpstr>
      <vt:lpstr>Vélemények felépítése</vt:lpstr>
      <vt:lpstr>Admin panel</vt:lpstr>
      <vt:lpstr>Admin scriptek</vt:lpstr>
      <vt:lpstr>Adatbázis</vt:lpstr>
      <vt:lpstr>Adatbázis táblák vizuális megjelenítése</vt:lpstr>
      <vt:lpstr>Táblák a XAMPP-ban</vt:lpstr>
      <vt:lpstr>Parfümök hozzáadása a perfumes táblához</vt:lpstr>
      <vt:lpstr>Parfüm seeder</vt:lpstr>
      <vt:lpstr>Szoftvertesztelés</vt:lpstr>
      <vt:lpstr>Egység tesztek</vt:lpstr>
      <vt:lpstr>PowerPoint-bemutató</vt:lpstr>
      <vt:lpstr>Autentikációs Middleware Tesztek</vt:lpstr>
      <vt:lpstr>PowerPoint-bemutató</vt:lpstr>
      <vt:lpstr>Továbbfejlesztési lehetőségek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 Vizsgaremek</dc:title>
  <dc:creator>Deák Dóra</dc:creator>
  <cp:lastModifiedBy>Albók Csaba</cp:lastModifiedBy>
  <cp:revision>126</cp:revision>
  <dcterms:created xsi:type="dcterms:W3CDTF">2026-01-28T15:38:59Z</dcterms:created>
  <dcterms:modified xsi:type="dcterms:W3CDTF">2026-03-20T08:43:26Z</dcterms:modified>
</cp:coreProperties>
</file>