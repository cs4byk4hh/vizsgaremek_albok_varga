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2" r:id="rId6"/>
    <p:sldId id="268" r:id="rId7"/>
    <p:sldId id="272" r:id="rId8"/>
    <p:sldId id="271" r:id="rId9"/>
    <p:sldId id="263" r:id="rId10"/>
    <p:sldId id="264" r:id="rId11"/>
    <p:sldId id="265" r:id="rId12"/>
    <p:sldId id="267" r:id="rId13"/>
    <p:sldId id="266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9" d="100"/>
          <a:sy n="79" d="100"/>
        </p:scale>
        <p:origin x="85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5128A7-F6C6-465A-93DE-671C5E3C067B}" type="datetimeFigureOut">
              <a:rPr lang="hu-HU" smtClean="0"/>
              <a:t>2026. 03. 14.</a:t>
            </a:fld>
            <a:endParaRPr lang="hu-H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E5EF8C-B3E8-4439-B42F-99C8ED5CF40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213227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E5EF8C-B3E8-4439-B42F-99C8ED5CF40C}" type="slidenum">
              <a:rPr lang="hu-HU" smtClean="0"/>
              <a:t>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899565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2026. 03. 14.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33240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2026. 03. 14.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11058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2026. 03. 14.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814154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2026. 03. 14.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394345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2026. 03. 14.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13532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2026. 03. 14.</a:t>
            </a:fld>
            <a:endParaRPr lang="hu-HU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65006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2026. 03. 14.</a:t>
            </a:fld>
            <a:endParaRPr lang="hu-HU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078671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2026. 03. 14.</a:t>
            </a:fld>
            <a:endParaRPr lang="hu-HU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382990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2026. 03. 14.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75583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2026. 03. 14.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978995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2026. 03. 14.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68482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2026. 03. 14.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1756183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2026. 03. 14.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618237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2026. 03. 14.</a:t>
            </a:fld>
            <a:endParaRPr lang="hu-HU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340435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2026. 03. 14.</a:t>
            </a:fld>
            <a:endParaRPr lang="hu-HU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399403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2026. 03. 14.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2198607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2026. 03. 14.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150593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05B58049-BF0B-4796-948D-34A52210E5C3}" type="datetimeFigureOut">
              <a:rPr lang="hu-HU" smtClean="0"/>
              <a:t>2026. 03. 14.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5105562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676148-504E-AFD3-CE7B-8ABD2A3D8D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Maison De Parfum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32D408-24EF-B9A1-93BB-3EB8FA79E7D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Made by: Csaba albók, </a:t>
            </a:r>
            <a:r>
              <a:rPr lang="hu-HU" dirty="0" err="1"/>
              <a:t>róbert</a:t>
            </a:r>
            <a:r>
              <a:rPr lang="hu-HU" dirty="0"/>
              <a:t> varga-</a:t>
            </a:r>
            <a:r>
              <a:rPr lang="hu-HU" dirty="0" err="1"/>
              <a:t>ádám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5634924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6AA3C0-F6E9-B8C9-22EF-2DF977F5FF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2" y="452718"/>
            <a:ext cx="4165580" cy="1400530"/>
          </a:xfrm>
        </p:spPr>
        <p:txBody>
          <a:bodyPr>
            <a:normAutofit/>
          </a:bodyPr>
          <a:lstStyle/>
          <a:p>
            <a:r>
              <a:rPr lang="hu-HU" dirty="0"/>
              <a:t>About The Project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2167F82-BD57-4D9B-BCC3-A4F13118BB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5270819" y="-63600"/>
            <a:ext cx="6858001" cy="6985200"/>
          </a:xfrm>
          <a:custGeom>
            <a:avLst/>
            <a:gdLst>
              <a:gd name="connsiteX0" fmla="*/ 6858001 w 6858001"/>
              <a:gd name="connsiteY0" fmla="*/ 1177 h 6985200"/>
              <a:gd name="connsiteX1" fmla="*/ 6858001 w 6858001"/>
              <a:gd name="connsiteY1" fmla="*/ 1344715 h 6985200"/>
              <a:gd name="connsiteX2" fmla="*/ 6858000 w 6858001"/>
              <a:gd name="connsiteY2" fmla="*/ 1344715 h 6985200"/>
              <a:gd name="connsiteX3" fmla="*/ 6858000 w 6858001"/>
              <a:gd name="connsiteY3" fmla="*/ 6985200 h 6985200"/>
              <a:gd name="connsiteX4" fmla="*/ 0 w 6858001"/>
              <a:gd name="connsiteY4" fmla="*/ 6985199 h 6985200"/>
              <a:gd name="connsiteX5" fmla="*/ 0 w 6858001"/>
              <a:gd name="connsiteY5" fmla="*/ 887191 h 6985200"/>
              <a:gd name="connsiteX6" fmla="*/ 1 w 6858001"/>
              <a:gd name="connsiteY6" fmla="*/ 887191 h 6985200"/>
              <a:gd name="connsiteX7" fmla="*/ 1 w 6858001"/>
              <a:gd name="connsiteY7" fmla="*/ 0 h 6985200"/>
              <a:gd name="connsiteX8" fmla="*/ 40463 w 6858001"/>
              <a:gd name="connsiteY8" fmla="*/ 5883 h 6985200"/>
              <a:gd name="connsiteX9" fmla="*/ 159107 w 6858001"/>
              <a:gd name="connsiteY9" fmla="*/ 23196 h 6985200"/>
              <a:gd name="connsiteX10" fmla="*/ 245518 w 6858001"/>
              <a:gd name="connsiteY10" fmla="*/ 35299 h 6985200"/>
              <a:gd name="connsiteX11" fmla="*/ 348388 w 6858001"/>
              <a:gd name="connsiteY11" fmla="*/ 48073 h 6985200"/>
              <a:gd name="connsiteX12" fmla="*/ 470460 w 6858001"/>
              <a:gd name="connsiteY12" fmla="*/ 63369 h 6985200"/>
              <a:gd name="connsiteX13" fmla="*/ 605563 w 6858001"/>
              <a:gd name="connsiteY13" fmla="*/ 79506 h 6985200"/>
              <a:gd name="connsiteX14" fmla="*/ 757810 w 6858001"/>
              <a:gd name="connsiteY14" fmla="*/ 96483 h 6985200"/>
              <a:gd name="connsiteX15" fmla="*/ 923774 w 6858001"/>
              <a:gd name="connsiteY15" fmla="*/ 114469 h 6985200"/>
              <a:gd name="connsiteX16" fmla="*/ 1104139 w 6858001"/>
              <a:gd name="connsiteY16" fmla="*/ 132454 h 6985200"/>
              <a:gd name="connsiteX17" fmla="*/ 1296163 w 6858001"/>
              <a:gd name="connsiteY17" fmla="*/ 150776 h 6985200"/>
              <a:gd name="connsiteX18" fmla="*/ 1503275 w 6858001"/>
              <a:gd name="connsiteY18" fmla="*/ 167753 h 6985200"/>
              <a:gd name="connsiteX19" fmla="*/ 1719988 w 6858001"/>
              <a:gd name="connsiteY19" fmla="*/ 184058 h 6985200"/>
              <a:gd name="connsiteX20" fmla="*/ 1949045 w 6858001"/>
              <a:gd name="connsiteY20" fmla="*/ 198849 h 6985200"/>
              <a:gd name="connsiteX21" fmla="*/ 2187703 w 6858001"/>
              <a:gd name="connsiteY21" fmla="*/ 212969 h 6985200"/>
              <a:gd name="connsiteX22" fmla="*/ 2436649 w 6858001"/>
              <a:gd name="connsiteY22" fmla="*/ 226248 h 6985200"/>
              <a:gd name="connsiteX23" fmla="*/ 2564208 w 6858001"/>
              <a:gd name="connsiteY23" fmla="*/ 230955 h 6985200"/>
              <a:gd name="connsiteX24" fmla="*/ 2694509 w 6858001"/>
              <a:gd name="connsiteY24" fmla="*/ 236165 h 6985200"/>
              <a:gd name="connsiteX25" fmla="*/ 2826869 w 6858001"/>
              <a:gd name="connsiteY25" fmla="*/ 241040 h 6985200"/>
              <a:gd name="connsiteX26" fmla="*/ 2959914 w 6858001"/>
              <a:gd name="connsiteY26" fmla="*/ 244234 h 6985200"/>
              <a:gd name="connsiteX27" fmla="*/ 3095702 w 6858001"/>
              <a:gd name="connsiteY27" fmla="*/ 247091 h 6985200"/>
              <a:gd name="connsiteX28" fmla="*/ 3232862 w 6858001"/>
              <a:gd name="connsiteY28" fmla="*/ 250117 h 6985200"/>
              <a:gd name="connsiteX29" fmla="*/ 3372766 w 6858001"/>
              <a:gd name="connsiteY29" fmla="*/ 252134 h 6985200"/>
              <a:gd name="connsiteX30" fmla="*/ 3514040 w 6858001"/>
              <a:gd name="connsiteY30" fmla="*/ 252134 h 6985200"/>
              <a:gd name="connsiteX31" fmla="*/ 3656686 w 6858001"/>
              <a:gd name="connsiteY31" fmla="*/ 253142 h 6985200"/>
              <a:gd name="connsiteX32" fmla="*/ 3800705 w 6858001"/>
              <a:gd name="connsiteY32" fmla="*/ 252134 h 6985200"/>
              <a:gd name="connsiteX33" fmla="*/ 3946780 w 6858001"/>
              <a:gd name="connsiteY33" fmla="*/ 250117 h 6985200"/>
              <a:gd name="connsiteX34" fmla="*/ 4092856 w 6858001"/>
              <a:gd name="connsiteY34" fmla="*/ 248268 h 6985200"/>
              <a:gd name="connsiteX35" fmla="*/ 4240988 w 6858001"/>
              <a:gd name="connsiteY35" fmla="*/ 244234 h 6985200"/>
              <a:gd name="connsiteX36" fmla="*/ 4390492 w 6858001"/>
              <a:gd name="connsiteY36" fmla="*/ 240032 h 6985200"/>
              <a:gd name="connsiteX37" fmla="*/ 4539997 w 6858001"/>
              <a:gd name="connsiteY37" fmla="*/ 235157 h 6985200"/>
              <a:gd name="connsiteX38" fmla="*/ 4690873 w 6858001"/>
              <a:gd name="connsiteY38" fmla="*/ 228266 h 6985200"/>
              <a:gd name="connsiteX39" fmla="*/ 4843120 w 6858001"/>
              <a:gd name="connsiteY39" fmla="*/ 220029 h 6985200"/>
              <a:gd name="connsiteX40" fmla="*/ 4996054 w 6858001"/>
              <a:gd name="connsiteY40" fmla="*/ 212129 h 6985200"/>
              <a:gd name="connsiteX41" fmla="*/ 5148987 w 6858001"/>
              <a:gd name="connsiteY41" fmla="*/ 202044 h 6985200"/>
              <a:gd name="connsiteX42" fmla="*/ 5303978 w 6858001"/>
              <a:gd name="connsiteY42" fmla="*/ 189941 h 6985200"/>
              <a:gd name="connsiteX43" fmla="*/ 5456911 w 6858001"/>
              <a:gd name="connsiteY43" fmla="*/ 177839 h 6985200"/>
              <a:gd name="connsiteX44" fmla="*/ 5612588 w 6858001"/>
              <a:gd name="connsiteY44" fmla="*/ 163887 h 6985200"/>
              <a:gd name="connsiteX45" fmla="*/ 5768950 w 6858001"/>
              <a:gd name="connsiteY45" fmla="*/ 148591 h 6985200"/>
              <a:gd name="connsiteX46" fmla="*/ 5923255 w 6858001"/>
              <a:gd name="connsiteY46" fmla="*/ 132455 h 6985200"/>
              <a:gd name="connsiteX47" fmla="*/ 6079618 w 6858001"/>
              <a:gd name="connsiteY47" fmla="*/ 113629 h 6985200"/>
              <a:gd name="connsiteX48" fmla="*/ 6235294 w 6858001"/>
              <a:gd name="connsiteY48" fmla="*/ 93458 h 6985200"/>
              <a:gd name="connsiteX49" fmla="*/ 6391657 w 6858001"/>
              <a:gd name="connsiteY49" fmla="*/ 73455 h 6985200"/>
              <a:gd name="connsiteX50" fmla="*/ 6547333 w 6858001"/>
              <a:gd name="connsiteY50" fmla="*/ 50091 h 6985200"/>
              <a:gd name="connsiteX51" fmla="*/ 6702324 w 6858001"/>
              <a:gd name="connsiteY51" fmla="*/ 26222 h 6985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858001" h="6985200">
                <a:moveTo>
                  <a:pt x="6858001" y="1177"/>
                </a:moveTo>
                <a:lnTo>
                  <a:pt x="6858001" y="1344715"/>
                </a:lnTo>
                <a:lnTo>
                  <a:pt x="6858000" y="1344715"/>
                </a:lnTo>
                <a:lnTo>
                  <a:pt x="6858000" y="6985200"/>
                </a:lnTo>
                <a:lnTo>
                  <a:pt x="0" y="6985199"/>
                </a:lnTo>
                <a:lnTo>
                  <a:pt x="0" y="887191"/>
                </a:lnTo>
                <a:lnTo>
                  <a:pt x="1" y="887191"/>
                </a:lnTo>
                <a:lnTo>
                  <a:pt x="1" y="0"/>
                </a:lnTo>
                <a:lnTo>
                  <a:pt x="40463" y="5883"/>
                </a:lnTo>
                <a:lnTo>
                  <a:pt x="159107" y="23196"/>
                </a:lnTo>
                <a:lnTo>
                  <a:pt x="245518" y="35299"/>
                </a:lnTo>
                <a:lnTo>
                  <a:pt x="348388" y="48073"/>
                </a:lnTo>
                <a:lnTo>
                  <a:pt x="470460" y="63369"/>
                </a:lnTo>
                <a:lnTo>
                  <a:pt x="605563" y="79506"/>
                </a:lnTo>
                <a:lnTo>
                  <a:pt x="757810" y="96483"/>
                </a:lnTo>
                <a:lnTo>
                  <a:pt x="923774" y="114469"/>
                </a:lnTo>
                <a:lnTo>
                  <a:pt x="1104139" y="132454"/>
                </a:lnTo>
                <a:lnTo>
                  <a:pt x="1296163" y="150776"/>
                </a:lnTo>
                <a:lnTo>
                  <a:pt x="1503275" y="167753"/>
                </a:lnTo>
                <a:lnTo>
                  <a:pt x="1719988" y="184058"/>
                </a:lnTo>
                <a:lnTo>
                  <a:pt x="1949045" y="198849"/>
                </a:lnTo>
                <a:lnTo>
                  <a:pt x="2187703" y="212969"/>
                </a:lnTo>
                <a:lnTo>
                  <a:pt x="2436649" y="226248"/>
                </a:lnTo>
                <a:lnTo>
                  <a:pt x="2564208" y="230955"/>
                </a:lnTo>
                <a:lnTo>
                  <a:pt x="2694509" y="236165"/>
                </a:lnTo>
                <a:lnTo>
                  <a:pt x="2826869" y="241040"/>
                </a:lnTo>
                <a:lnTo>
                  <a:pt x="2959914" y="244234"/>
                </a:lnTo>
                <a:lnTo>
                  <a:pt x="3095702" y="247091"/>
                </a:lnTo>
                <a:lnTo>
                  <a:pt x="3232862" y="250117"/>
                </a:lnTo>
                <a:lnTo>
                  <a:pt x="3372766" y="252134"/>
                </a:lnTo>
                <a:lnTo>
                  <a:pt x="3514040" y="252134"/>
                </a:lnTo>
                <a:lnTo>
                  <a:pt x="3656686" y="253142"/>
                </a:lnTo>
                <a:lnTo>
                  <a:pt x="3800705" y="252134"/>
                </a:lnTo>
                <a:lnTo>
                  <a:pt x="3946780" y="250117"/>
                </a:lnTo>
                <a:lnTo>
                  <a:pt x="4092856" y="248268"/>
                </a:lnTo>
                <a:lnTo>
                  <a:pt x="4240988" y="244234"/>
                </a:lnTo>
                <a:lnTo>
                  <a:pt x="4390492" y="240032"/>
                </a:lnTo>
                <a:lnTo>
                  <a:pt x="4539997" y="235157"/>
                </a:lnTo>
                <a:lnTo>
                  <a:pt x="4690873" y="228266"/>
                </a:lnTo>
                <a:lnTo>
                  <a:pt x="4843120" y="220029"/>
                </a:lnTo>
                <a:lnTo>
                  <a:pt x="4996054" y="212129"/>
                </a:lnTo>
                <a:lnTo>
                  <a:pt x="5148987" y="202044"/>
                </a:lnTo>
                <a:lnTo>
                  <a:pt x="5303978" y="189941"/>
                </a:lnTo>
                <a:lnTo>
                  <a:pt x="5456911" y="177839"/>
                </a:lnTo>
                <a:lnTo>
                  <a:pt x="5612588" y="163887"/>
                </a:lnTo>
                <a:lnTo>
                  <a:pt x="5768950" y="148591"/>
                </a:lnTo>
                <a:lnTo>
                  <a:pt x="5923255" y="132455"/>
                </a:lnTo>
                <a:lnTo>
                  <a:pt x="6079618" y="113629"/>
                </a:lnTo>
                <a:lnTo>
                  <a:pt x="6235294" y="93458"/>
                </a:lnTo>
                <a:lnTo>
                  <a:pt x="6391657" y="73455"/>
                </a:lnTo>
                <a:lnTo>
                  <a:pt x="6547333" y="50091"/>
                </a:lnTo>
                <a:lnTo>
                  <a:pt x="6702324" y="26222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hu-HU"/>
          </a:p>
        </p:txBody>
      </p:sp>
      <p:sp>
        <p:nvSpPr>
          <p:cNvPr id="14" name="Freeform 23">
            <a:extLst>
              <a:ext uri="{FF2B5EF4-FFF2-40B4-BE49-F238E27FC236}">
                <a16:creationId xmlns:a16="http://schemas.microsoft.com/office/drawing/2014/main" id="{4CBF4B90-A27B-4E6A-B288-303118BA63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94020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Why use Node.js? The key to building scalable and fast web applications">
            <a:extLst>
              <a:ext uri="{FF2B5EF4-FFF2-40B4-BE49-F238E27FC236}">
                <a16:creationId xmlns:a16="http://schemas.microsoft.com/office/drawing/2014/main" id="{F3D7B418-6C5F-690A-2309-910D39718D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916129" y="685249"/>
            <a:ext cx="2627752" cy="2627752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BC77A50A-7946-4C3E-A197-2F4ACE0816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81D89F-713A-E442-453F-9D587C5558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113" y="2052918"/>
            <a:ext cx="4165146" cy="4195481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hu-HU" dirty="0"/>
              <a:t>Name of the project: Maison De Parfum (MDP)</a:t>
            </a:r>
          </a:p>
          <a:p>
            <a:pPr>
              <a:lnSpc>
                <a:spcPct val="90000"/>
              </a:lnSpc>
            </a:pPr>
            <a:r>
              <a:rPr lang="hu-HU" dirty="0"/>
              <a:t>Technologies used to make the project: Angular (v19), Bootstrap (v5), node.js (v20.18.0), Express.js (v5.2.1), Sequelize (v6.37.7), MySQL</a:t>
            </a:r>
          </a:p>
          <a:p>
            <a:pPr>
              <a:lnSpc>
                <a:spcPct val="90000"/>
              </a:lnSpc>
            </a:pPr>
            <a:r>
              <a:rPr lang="hu-HU" dirty="0"/>
              <a:t>The split of the project: </a:t>
            </a:r>
          </a:p>
          <a:p>
            <a:pPr>
              <a:lnSpc>
                <a:spcPct val="90000"/>
              </a:lnSpc>
            </a:pPr>
            <a:r>
              <a:rPr lang="hu-HU" dirty="0"/>
              <a:t>Frontend: Róbert Varga-Ádám </a:t>
            </a:r>
          </a:p>
          <a:p>
            <a:pPr>
              <a:lnSpc>
                <a:spcPct val="90000"/>
              </a:lnSpc>
            </a:pPr>
            <a:r>
              <a:rPr lang="hu-HU" dirty="0"/>
              <a:t>Backend, Database, Software Testing: Csaba Albók</a:t>
            </a:r>
          </a:p>
        </p:txBody>
      </p:sp>
      <p:pic>
        <p:nvPicPr>
          <p:cNvPr id="4" name="Picture 18" descr="Bootstrap Icons, Logos, Symbols – Free Download PNG, SVG">
            <a:extLst>
              <a:ext uri="{FF2B5EF4-FFF2-40B4-BE49-F238E27FC236}">
                <a16:creationId xmlns:a16="http://schemas.microsoft.com/office/drawing/2014/main" id="{56627E8C-702C-393C-E82D-89FF289A0C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094408" y="685248"/>
            <a:ext cx="2627752" cy="2627752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8" descr="Angular Logo editorial photography. Illustration of background - 136767237">
            <a:extLst>
              <a:ext uri="{FF2B5EF4-FFF2-40B4-BE49-F238E27FC236}">
                <a16:creationId xmlns:a16="http://schemas.microsoft.com/office/drawing/2014/main" id="{9E8950B3-CFF4-F54B-F772-7F99038CB8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094408" y="3967405"/>
            <a:ext cx="2627752" cy="1859134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10" descr="Let's Build: Express.js Backend Application | by Amaan | Medium">
            <a:extLst>
              <a:ext uri="{FF2B5EF4-FFF2-40B4-BE49-F238E27FC236}">
                <a16:creationId xmlns:a16="http://schemas.microsoft.com/office/drawing/2014/main" id="{FFA220CA-FEE0-BE46-C5B0-F8D0A3BC8F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916129" y="4486386"/>
            <a:ext cx="2627752" cy="821172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180778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AD450-065A-450E-7C08-CD9CDCA13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Backend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6E17A6-BA07-5CB1-AAE6-07DD8565CC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7669" y="1522507"/>
            <a:ext cx="4062075" cy="4798978"/>
          </a:xfrm>
        </p:spPr>
        <p:txBody>
          <a:bodyPr>
            <a:normAutofit lnSpcReduction="10000"/>
          </a:bodyPr>
          <a:lstStyle/>
          <a:p>
            <a:r>
              <a:rPr lang="hu-HU" dirty="0"/>
              <a:t>File Structure</a:t>
            </a:r>
          </a:p>
          <a:p>
            <a:r>
              <a:rPr lang="hu-HU" dirty="0"/>
              <a:t>Config: Jwt and Db connection</a:t>
            </a:r>
          </a:p>
          <a:p>
            <a:r>
              <a:rPr lang="hu-HU" dirty="0"/>
              <a:t>Controllers: Marketing logic</a:t>
            </a:r>
          </a:p>
          <a:p>
            <a:r>
              <a:rPr lang="hu-HU" dirty="0"/>
              <a:t>Middlewares: JWT control</a:t>
            </a:r>
          </a:p>
          <a:p>
            <a:r>
              <a:rPr lang="hu-HU" dirty="0"/>
              <a:t>Models: db tagbles, defines connections</a:t>
            </a:r>
          </a:p>
          <a:p>
            <a:r>
              <a:rPr lang="hu-HU" dirty="0"/>
              <a:t>Router: API endpoints</a:t>
            </a:r>
          </a:p>
          <a:p>
            <a:r>
              <a:rPr lang="hu-HU" dirty="0"/>
              <a:t>Seeders: Uploading defined datas</a:t>
            </a:r>
          </a:p>
          <a:p>
            <a:r>
              <a:rPr lang="hu-HU" dirty="0"/>
              <a:t>.env: local variables</a:t>
            </a:r>
          </a:p>
          <a:p>
            <a:r>
              <a:rPr lang="hu-HU" dirty="0"/>
              <a:t>Server.js: Impotrs, Server starts</a:t>
            </a:r>
          </a:p>
          <a:p>
            <a:endParaRPr lang="hu-HU" dirty="0"/>
          </a:p>
        </p:txBody>
      </p:sp>
      <p:pic>
        <p:nvPicPr>
          <p:cNvPr id="7" name="Kép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5491" y="1522507"/>
            <a:ext cx="3681607" cy="3516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24482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8B0D4-CF79-1F2D-55B8-B0F940600D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2" y="452718"/>
            <a:ext cx="5629222" cy="1400530"/>
          </a:xfrm>
        </p:spPr>
        <p:txBody>
          <a:bodyPr>
            <a:normAutofit/>
          </a:bodyPr>
          <a:lstStyle/>
          <a:p>
            <a:r>
              <a:rPr lang="hu-HU" dirty="0"/>
              <a:t>Opinions Controller</a:t>
            </a: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BDF1A5A8-1F9D-41FB-9968-E8E141CC34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5998731" y="664312"/>
            <a:ext cx="6858001" cy="5529377"/>
          </a:xfrm>
          <a:custGeom>
            <a:avLst/>
            <a:gdLst>
              <a:gd name="connsiteX0" fmla="*/ 6858001 w 6858001"/>
              <a:gd name="connsiteY0" fmla="*/ 1177 h 5529377"/>
              <a:gd name="connsiteX1" fmla="*/ 6858001 w 6858001"/>
              <a:gd name="connsiteY1" fmla="*/ 1344715 h 5529377"/>
              <a:gd name="connsiteX2" fmla="*/ 6858000 w 6858001"/>
              <a:gd name="connsiteY2" fmla="*/ 1344715 h 5529377"/>
              <a:gd name="connsiteX3" fmla="*/ 6858000 w 6858001"/>
              <a:gd name="connsiteY3" fmla="*/ 5529377 h 5529377"/>
              <a:gd name="connsiteX4" fmla="*/ 0 w 6858001"/>
              <a:gd name="connsiteY4" fmla="*/ 5529376 h 5529377"/>
              <a:gd name="connsiteX5" fmla="*/ 0 w 6858001"/>
              <a:gd name="connsiteY5" fmla="*/ 891096 h 5529377"/>
              <a:gd name="connsiteX6" fmla="*/ 1 w 6858001"/>
              <a:gd name="connsiteY6" fmla="*/ 891096 h 5529377"/>
              <a:gd name="connsiteX7" fmla="*/ 1 w 6858001"/>
              <a:gd name="connsiteY7" fmla="*/ 0 h 5529377"/>
              <a:gd name="connsiteX8" fmla="*/ 40463 w 6858001"/>
              <a:gd name="connsiteY8" fmla="*/ 5883 h 5529377"/>
              <a:gd name="connsiteX9" fmla="*/ 159107 w 6858001"/>
              <a:gd name="connsiteY9" fmla="*/ 23196 h 5529377"/>
              <a:gd name="connsiteX10" fmla="*/ 245518 w 6858001"/>
              <a:gd name="connsiteY10" fmla="*/ 35299 h 5529377"/>
              <a:gd name="connsiteX11" fmla="*/ 348388 w 6858001"/>
              <a:gd name="connsiteY11" fmla="*/ 48073 h 5529377"/>
              <a:gd name="connsiteX12" fmla="*/ 470460 w 6858001"/>
              <a:gd name="connsiteY12" fmla="*/ 63369 h 5529377"/>
              <a:gd name="connsiteX13" fmla="*/ 605563 w 6858001"/>
              <a:gd name="connsiteY13" fmla="*/ 79506 h 5529377"/>
              <a:gd name="connsiteX14" fmla="*/ 757810 w 6858001"/>
              <a:gd name="connsiteY14" fmla="*/ 96483 h 5529377"/>
              <a:gd name="connsiteX15" fmla="*/ 923774 w 6858001"/>
              <a:gd name="connsiteY15" fmla="*/ 114469 h 5529377"/>
              <a:gd name="connsiteX16" fmla="*/ 1104139 w 6858001"/>
              <a:gd name="connsiteY16" fmla="*/ 132454 h 5529377"/>
              <a:gd name="connsiteX17" fmla="*/ 1296163 w 6858001"/>
              <a:gd name="connsiteY17" fmla="*/ 150776 h 5529377"/>
              <a:gd name="connsiteX18" fmla="*/ 1503275 w 6858001"/>
              <a:gd name="connsiteY18" fmla="*/ 167753 h 5529377"/>
              <a:gd name="connsiteX19" fmla="*/ 1719988 w 6858001"/>
              <a:gd name="connsiteY19" fmla="*/ 184058 h 5529377"/>
              <a:gd name="connsiteX20" fmla="*/ 1949045 w 6858001"/>
              <a:gd name="connsiteY20" fmla="*/ 198849 h 5529377"/>
              <a:gd name="connsiteX21" fmla="*/ 2187703 w 6858001"/>
              <a:gd name="connsiteY21" fmla="*/ 212969 h 5529377"/>
              <a:gd name="connsiteX22" fmla="*/ 2436649 w 6858001"/>
              <a:gd name="connsiteY22" fmla="*/ 226248 h 5529377"/>
              <a:gd name="connsiteX23" fmla="*/ 2564208 w 6858001"/>
              <a:gd name="connsiteY23" fmla="*/ 230955 h 5529377"/>
              <a:gd name="connsiteX24" fmla="*/ 2694509 w 6858001"/>
              <a:gd name="connsiteY24" fmla="*/ 236165 h 5529377"/>
              <a:gd name="connsiteX25" fmla="*/ 2826868 w 6858001"/>
              <a:gd name="connsiteY25" fmla="*/ 241040 h 5529377"/>
              <a:gd name="connsiteX26" fmla="*/ 2959914 w 6858001"/>
              <a:gd name="connsiteY26" fmla="*/ 244234 h 5529377"/>
              <a:gd name="connsiteX27" fmla="*/ 3095702 w 6858001"/>
              <a:gd name="connsiteY27" fmla="*/ 247091 h 5529377"/>
              <a:gd name="connsiteX28" fmla="*/ 3232862 w 6858001"/>
              <a:gd name="connsiteY28" fmla="*/ 250117 h 5529377"/>
              <a:gd name="connsiteX29" fmla="*/ 3372765 w 6858001"/>
              <a:gd name="connsiteY29" fmla="*/ 252134 h 5529377"/>
              <a:gd name="connsiteX30" fmla="*/ 3514040 w 6858001"/>
              <a:gd name="connsiteY30" fmla="*/ 252134 h 5529377"/>
              <a:gd name="connsiteX31" fmla="*/ 3656686 w 6858001"/>
              <a:gd name="connsiteY31" fmla="*/ 253142 h 5529377"/>
              <a:gd name="connsiteX32" fmla="*/ 3800704 w 6858001"/>
              <a:gd name="connsiteY32" fmla="*/ 252134 h 5529377"/>
              <a:gd name="connsiteX33" fmla="*/ 3946780 w 6858001"/>
              <a:gd name="connsiteY33" fmla="*/ 250117 h 5529377"/>
              <a:gd name="connsiteX34" fmla="*/ 4092855 w 6858001"/>
              <a:gd name="connsiteY34" fmla="*/ 248268 h 5529377"/>
              <a:gd name="connsiteX35" fmla="*/ 4240988 w 6858001"/>
              <a:gd name="connsiteY35" fmla="*/ 244234 h 5529377"/>
              <a:gd name="connsiteX36" fmla="*/ 4390492 w 6858001"/>
              <a:gd name="connsiteY36" fmla="*/ 240032 h 5529377"/>
              <a:gd name="connsiteX37" fmla="*/ 4539997 w 6858001"/>
              <a:gd name="connsiteY37" fmla="*/ 235157 h 5529377"/>
              <a:gd name="connsiteX38" fmla="*/ 4690873 w 6858001"/>
              <a:gd name="connsiteY38" fmla="*/ 228266 h 5529377"/>
              <a:gd name="connsiteX39" fmla="*/ 4843120 w 6858001"/>
              <a:gd name="connsiteY39" fmla="*/ 220029 h 5529377"/>
              <a:gd name="connsiteX40" fmla="*/ 4996054 w 6858001"/>
              <a:gd name="connsiteY40" fmla="*/ 212129 h 5529377"/>
              <a:gd name="connsiteX41" fmla="*/ 5148987 w 6858001"/>
              <a:gd name="connsiteY41" fmla="*/ 202044 h 5529377"/>
              <a:gd name="connsiteX42" fmla="*/ 5303978 w 6858001"/>
              <a:gd name="connsiteY42" fmla="*/ 189941 h 5529377"/>
              <a:gd name="connsiteX43" fmla="*/ 5456911 w 6858001"/>
              <a:gd name="connsiteY43" fmla="*/ 177839 h 5529377"/>
              <a:gd name="connsiteX44" fmla="*/ 5612588 w 6858001"/>
              <a:gd name="connsiteY44" fmla="*/ 163887 h 5529377"/>
              <a:gd name="connsiteX45" fmla="*/ 5768950 w 6858001"/>
              <a:gd name="connsiteY45" fmla="*/ 148591 h 5529377"/>
              <a:gd name="connsiteX46" fmla="*/ 5923255 w 6858001"/>
              <a:gd name="connsiteY46" fmla="*/ 132455 h 5529377"/>
              <a:gd name="connsiteX47" fmla="*/ 6079618 w 6858001"/>
              <a:gd name="connsiteY47" fmla="*/ 113629 h 5529377"/>
              <a:gd name="connsiteX48" fmla="*/ 6235294 w 6858001"/>
              <a:gd name="connsiteY48" fmla="*/ 93458 h 5529377"/>
              <a:gd name="connsiteX49" fmla="*/ 6391657 w 6858001"/>
              <a:gd name="connsiteY49" fmla="*/ 73455 h 5529377"/>
              <a:gd name="connsiteX50" fmla="*/ 6547333 w 6858001"/>
              <a:gd name="connsiteY50" fmla="*/ 50091 h 5529377"/>
              <a:gd name="connsiteX51" fmla="*/ 6702324 w 6858001"/>
              <a:gd name="connsiteY51" fmla="*/ 26222 h 55293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858001" h="5529377">
                <a:moveTo>
                  <a:pt x="6858001" y="1177"/>
                </a:moveTo>
                <a:lnTo>
                  <a:pt x="6858001" y="1344715"/>
                </a:lnTo>
                <a:lnTo>
                  <a:pt x="6858000" y="1344715"/>
                </a:lnTo>
                <a:lnTo>
                  <a:pt x="6858000" y="5529377"/>
                </a:lnTo>
                <a:lnTo>
                  <a:pt x="0" y="5529376"/>
                </a:lnTo>
                <a:lnTo>
                  <a:pt x="0" y="891096"/>
                </a:lnTo>
                <a:lnTo>
                  <a:pt x="1" y="891096"/>
                </a:lnTo>
                <a:lnTo>
                  <a:pt x="1" y="0"/>
                </a:lnTo>
                <a:lnTo>
                  <a:pt x="40463" y="5883"/>
                </a:lnTo>
                <a:lnTo>
                  <a:pt x="159107" y="23196"/>
                </a:lnTo>
                <a:lnTo>
                  <a:pt x="245518" y="35299"/>
                </a:lnTo>
                <a:lnTo>
                  <a:pt x="348388" y="48073"/>
                </a:lnTo>
                <a:lnTo>
                  <a:pt x="470460" y="63369"/>
                </a:lnTo>
                <a:lnTo>
                  <a:pt x="605563" y="79506"/>
                </a:lnTo>
                <a:lnTo>
                  <a:pt x="757810" y="96483"/>
                </a:lnTo>
                <a:lnTo>
                  <a:pt x="923774" y="114469"/>
                </a:lnTo>
                <a:lnTo>
                  <a:pt x="1104139" y="132454"/>
                </a:lnTo>
                <a:lnTo>
                  <a:pt x="1296163" y="150776"/>
                </a:lnTo>
                <a:lnTo>
                  <a:pt x="1503275" y="167753"/>
                </a:lnTo>
                <a:lnTo>
                  <a:pt x="1719988" y="184058"/>
                </a:lnTo>
                <a:lnTo>
                  <a:pt x="1949045" y="198849"/>
                </a:lnTo>
                <a:lnTo>
                  <a:pt x="2187703" y="212969"/>
                </a:lnTo>
                <a:lnTo>
                  <a:pt x="2436649" y="226248"/>
                </a:lnTo>
                <a:lnTo>
                  <a:pt x="2564208" y="230955"/>
                </a:lnTo>
                <a:lnTo>
                  <a:pt x="2694509" y="236165"/>
                </a:lnTo>
                <a:lnTo>
                  <a:pt x="2826868" y="241040"/>
                </a:lnTo>
                <a:lnTo>
                  <a:pt x="2959914" y="244234"/>
                </a:lnTo>
                <a:lnTo>
                  <a:pt x="3095702" y="247091"/>
                </a:lnTo>
                <a:lnTo>
                  <a:pt x="3232862" y="250117"/>
                </a:lnTo>
                <a:lnTo>
                  <a:pt x="3372765" y="252134"/>
                </a:lnTo>
                <a:lnTo>
                  <a:pt x="3514040" y="252134"/>
                </a:lnTo>
                <a:lnTo>
                  <a:pt x="3656686" y="253142"/>
                </a:lnTo>
                <a:lnTo>
                  <a:pt x="3800704" y="252134"/>
                </a:lnTo>
                <a:lnTo>
                  <a:pt x="3946780" y="250117"/>
                </a:lnTo>
                <a:lnTo>
                  <a:pt x="4092855" y="248268"/>
                </a:lnTo>
                <a:lnTo>
                  <a:pt x="4240988" y="244234"/>
                </a:lnTo>
                <a:lnTo>
                  <a:pt x="4390492" y="240032"/>
                </a:lnTo>
                <a:lnTo>
                  <a:pt x="4539997" y="235157"/>
                </a:lnTo>
                <a:lnTo>
                  <a:pt x="4690873" y="228266"/>
                </a:lnTo>
                <a:lnTo>
                  <a:pt x="4843120" y="220029"/>
                </a:lnTo>
                <a:lnTo>
                  <a:pt x="4996054" y="212129"/>
                </a:lnTo>
                <a:lnTo>
                  <a:pt x="5148987" y="202044"/>
                </a:lnTo>
                <a:lnTo>
                  <a:pt x="5303978" y="189941"/>
                </a:lnTo>
                <a:lnTo>
                  <a:pt x="5456911" y="177839"/>
                </a:lnTo>
                <a:lnTo>
                  <a:pt x="5612588" y="163887"/>
                </a:lnTo>
                <a:lnTo>
                  <a:pt x="5768950" y="148591"/>
                </a:lnTo>
                <a:lnTo>
                  <a:pt x="5923255" y="132455"/>
                </a:lnTo>
                <a:lnTo>
                  <a:pt x="6079618" y="113629"/>
                </a:lnTo>
                <a:lnTo>
                  <a:pt x="6235294" y="93458"/>
                </a:lnTo>
                <a:lnTo>
                  <a:pt x="6391657" y="73455"/>
                </a:lnTo>
                <a:lnTo>
                  <a:pt x="6547333" y="50091"/>
                </a:lnTo>
                <a:lnTo>
                  <a:pt x="6702324" y="26222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hu-HU"/>
          </a:p>
        </p:txBody>
      </p:sp>
      <p:sp>
        <p:nvSpPr>
          <p:cNvPr id="24" name="Freeform 7">
            <a:extLst>
              <a:ext uri="{FF2B5EF4-FFF2-40B4-BE49-F238E27FC236}">
                <a16:creationId xmlns:a16="http://schemas.microsoft.com/office/drawing/2014/main" id="{2FF8A507-56A2-4FE4-8B7E-C1BC9DD865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49843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8581C2-D449-F39D-1DE4-0247B77B2D76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64" t="5390" r="4165" b="6601"/>
          <a:stretch>
            <a:fillRect/>
          </a:stretch>
        </p:blipFill>
        <p:spPr>
          <a:xfrm>
            <a:off x="7437661" y="324883"/>
            <a:ext cx="3980139" cy="2823476"/>
          </a:xfrm>
          <a:prstGeom prst="rect">
            <a:avLst/>
          </a:prstGeom>
          <a:effectLst/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FCC54B50-93BD-4243-9020-11486472E2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14BFF71F-05F5-5798-611D-F77F42883A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112" y="2052918"/>
            <a:ext cx="5628635" cy="4195481"/>
          </a:xfrm>
        </p:spPr>
        <p:txBody>
          <a:bodyPr>
            <a:normAutofit/>
          </a:bodyPr>
          <a:lstStyle/>
          <a:p>
            <a:r>
              <a:rPr lang="hu-HU"/>
              <a:t>The most importand thing on the website is the opinions logic</a:t>
            </a:r>
          </a:p>
          <a:p>
            <a:r>
              <a:rPr lang="hu-HU"/>
              <a:t>CRUD operations</a:t>
            </a:r>
          </a:p>
          <a:p>
            <a:r>
              <a:rPr lang="hu-HU"/>
              <a:t>POST: create the opinion</a:t>
            </a:r>
          </a:p>
          <a:p>
            <a:r>
              <a:rPr lang="hu-HU"/>
              <a:t>DELETE: delete the opinion by id</a:t>
            </a:r>
          </a:p>
          <a:p>
            <a:r>
              <a:rPr lang="hu-HU"/>
              <a:t>UPDATE: update the opinions by id</a:t>
            </a:r>
          </a:p>
          <a:p>
            <a:r>
              <a:rPr lang="hu-HU"/>
              <a:t>GET: get all the opinions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3C8406D-0C41-DC4D-A716-1ADAC39190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51" t="8227" r="5213" b="7943"/>
          <a:stretch>
            <a:fillRect/>
          </a:stretch>
        </p:blipFill>
        <p:spPr>
          <a:xfrm>
            <a:off x="7437660" y="3516549"/>
            <a:ext cx="3980139" cy="2973261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15310590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BE1BC2-B87B-F343-0905-F994CF571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Server.js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D32BE1-D896-CAE6-1CBB-14A22B7C3F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3" y="2052918"/>
            <a:ext cx="2846118" cy="4195481"/>
          </a:xfrm>
        </p:spPr>
        <p:txBody>
          <a:bodyPr/>
          <a:lstStyle/>
          <a:p>
            <a:r>
              <a:rPr lang="hu-HU" dirty="0"/>
              <a:t>All the imports are here.</a:t>
            </a:r>
          </a:p>
          <a:p>
            <a:r>
              <a:rPr lang="hu-HU" dirty="0"/>
              <a:t>Perfumes, and Admin seed.</a:t>
            </a:r>
          </a:p>
          <a:p>
            <a:r>
              <a:rPr lang="hu-HU" dirty="0"/>
              <a:t>Server starts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7B0567-E533-E778-2C14-97987CCD36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05" t="4397" r="5576" b="3688"/>
          <a:stretch>
            <a:fillRect/>
          </a:stretch>
        </p:blipFill>
        <p:spPr>
          <a:xfrm>
            <a:off x="5765801" y="277237"/>
            <a:ext cx="4953539" cy="6303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9182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Frontend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957486" y="1963708"/>
            <a:ext cx="3256815" cy="4195481"/>
          </a:xfrm>
        </p:spPr>
        <p:txBody>
          <a:bodyPr/>
          <a:lstStyle/>
          <a:p>
            <a:r>
              <a:rPr lang="hu-HU" dirty="0"/>
              <a:t>File </a:t>
            </a:r>
            <a:r>
              <a:rPr lang="hu-HU" dirty="0" err="1"/>
              <a:t>structure</a:t>
            </a:r>
            <a:endParaRPr lang="hu-HU" dirty="0"/>
          </a:p>
          <a:p>
            <a:r>
              <a:rPr lang="hu-HU" dirty="0" err="1"/>
              <a:t>Assets</a:t>
            </a:r>
            <a:r>
              <a:rPr lang="hu-HU" dirty="0"/>
              <a:t>/</a:t>
            </a:r>
            <a:r>
              <a:rPr lang="hu-HU" dirty="0" err="1"/>
              <a:t>images</a:t>
            </a:r>
            <a:r>
              <a:rPr lang="hu-HU" dirty="0"/>
              <a:t>: </a:t>
            </a:r>
            <a:r>
              <a:rPr lang="hu-HU" dirty="0" err="1"/>
              <a:t>pictures</a:t>
            </a:r>
            <a:r>
              <a:rPr lang="hu-HU" dirty="0"/>
              <a:t> </a:t>
            </a:r>
            <a:r>
              <a:rPr lang="hu-HU" dirty="0" err="1"/>
              <a:t>used</a:t>
            </a:r>
            <a:r>
              <a:rPr lang="hu-HU" dirty="0"/>
              <a:t> </a:t>
            </a:r>
            <a:r>
              <a:rPr lang="hu-HU" dirty="0" err="1"/>
              <a:t>for</a:t>
            </a:r>
            <a:r>
              <a:rPr lang="hu-HU" dirty="0"/>
              <a:t> </a:t>
            </a:r>
            <a:r>
              <a:rPr lang="hu-HU" dirty="0" err="1"/>
              <a:t>the</a:t>
            </a:r>
            <a:r>
              <a:rPr lang="hu-HU" dirty="0"/>
              <a:t> website</a:t>
            </a:r>
          </a:p>
          <a:p>
            <a:r>
              <a:rPr lang="hu-HU" dirty="0" err="1"/>
              <a:t>Admin</a:t>
            </a:r>
            <a:r>
              <a:rPr lang="hu-HU" dirty="0"/>
              <a:t>-&gt;</a:t>
            </a:r>
            <a:r>
              <a:rPr lang="hu-HU" dirty="0" err="1"/>
              <a:t>Register</a:t>
            </a:r>
            <a:r>
              <a:rPr lang="hu-HU" dirty="0"/>
              <a:t>: </a:t>
            </a:r>
            <a:r>
              <a:rPr lang="hu-HU" dirty="0" err="1"/>
              <a:t>component</a:t>
            </a:r>
            <a:endParaRPr lang="hu-HU" dirty="0"/>
          </a:p>
          <a:p>
            <a:r>
              <a:rPr lang="hu-HU" dirty="0" err="1"/>
              <a:t>Guards:controlls</a:t>
            </a:r>
            <a:r>
              <a:rPr lang="hu-HU" dirty="0"/>
              <a:t> </a:t>
            </a:r>
            <a:r>
              <a:rPr lang="hu-HU" dirty="0" err="1"/>
              <a:t>user</a:t>
            </a:r>
            <a:r>
              <a:rPr lang="hu-HU" dirty="0"/>
              <a:t> </a:t>
            </a:r>
            <a:r>
              <a:rPr lang="hu-HU" dirty="0" err="1"/>
              <a:t>activities</a:t>
            </a:r>
            <a:endParaRPr lang="hu-HU" dirty="0"/>
          </a:p>
          <a:p>
            <a:r>
              <a:rPr lang="hu-HU" dirty="0" err="1"/>
              <a:t>Services</a:t>
            </a:r>
            <a:r>
              <a:rPr lang="hu-HU" dirty="0"/>
              <a:t>: http </a:t>
            </a:r>
            <a:r>
              <a:rPr lang="hu-HU" dirty="0" err="1"/>
              <a:t>requests</a:t>
            </a:r>
            <a:endParaRPr lang="hu-HU" dirty="0"/>
          </a:p>
          <a:p>
            <a:endParaRPr lang="hu-HU" dirty="0"/>
          </a:p>
        </p:txBody>
      </p:sp>
      <p:pic>
        <p:nvPicPr>
          <p:cNvPr id="4" name="Kép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8379" y="1627431"/>
            <a:ext cx="2619741" cy="4048690"/>
          </a:xfrm>
          <a:prstGeom prst="rect">
            <a:avLst/>
          </a:prstGeom>
        </p:spPr>
      </p:pic>
      <p:pic>
        <p:nvPicPr>
          <p:cNvPr id="5" name="Kép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2199" y="1403563"/>
            <a:ext cx="2686425" cy="4496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39218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4032421" cy="1400530"/>
          </a:xfrm>
        </p:spPr>
        <p:txBody>
          <a:bodyPr/>
          <a:lstStyle/>
          <a:p>
            <a:r>
              <a:rPr lang="hu-HU" dirty="0" err="1"/>
              <a:t>Opinions</a:t>
            </a:r>
            <a:r>
              <a:rPr lang="hu-HU" dirty="0"/>
              <a:t> </a:t>
            </a:r>
            <a:r>
              <a:rPr lang="hu-HU" dirty="0" err="1"/>
              <a:t>methods</a:t>
            </a:r>
            <a:endParaRPr lang="hu-HU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1058925" y="2354759"/>
            <a:ext cx="4063492" cy="2971843"/>
          </a:xfrm>
        </p:spPr>
        <p:txBody>
          <a:bodyPr/>
          <a:lstStyle/>
          <a:p>
            <a:r>
              <a:rPr lang="hu-HU" altLang="hu-HU" dirty="0" err="1">
                <a:latin typeface="Arial" panose="020B0604020202020204" pitchFamily="34" charset="0"/>
              </a:rPr>
              <a:t>This</a:t>
            </a:r>
            <a:r>
              <a:rPr lang="hu-HU" altLang="hu-HU" dirty="0">
                <a:latin typeface="Arial" panose="020B0604020202020204" pitchFamily="34" charset="0"/>
              </a:rPr>
              <a:t> </a:t>
            </a:r>
            <a:r>
              <a:rPr lang="hu-HU" altLang="hu-HU" dirty="0" err="1">
                <a:latin typeface="Arial" panose="020B0604020202020204" pitchFamily="34" charset="0"/>
              </a:rPr>
              <a:t>code</a:t>
            </a:r>
            <a:r>
              <a:rPr lang="hu-HU" altLang="hu-HU" dirty="0">
                <a:latin typeface="Arial" panose="020B0604020202020204" pitchFamily="34" charset="0"/>
              </a:rPr>
              <a:t> </a:t>
            </a:r>
            <a:r>
              <a:rPr lang="hu-HU" altLang="hu-HU" dirty="0" err="1">
                <a:latin typeface="Arial" panose="020B0604020202020204" pitchFamily="34" charset="0"/>
              </a:rPr>
              <a:t>defines</a:t>
            </a:r>
            <a:r>
              <a:rPr lang="hu-HU" altLang="hu-HU" dirty="0">
                <a:latin typeface="Arial" panose="020B0604020202020204" pitchFamily="34" charset="0"/>
              </a:rPr>
              <a:t> an </a:t>
            </a:r>
            <a:r>
              <a:rPr lang="hu-HU" altLang="hu-HU" dirty="0" err="1">
                <a:latin typeface="Arial" panose="020B0604020202020204" pitchFamily="34" charset="0"/>
              </a:rPr>
              <a:t>Angular</a:t>
            </a:r>
            <a:r>
              <a:rPr lang="hu-HU" altLang="hu-HU" dirty="0">
                <a:latin typeface="Arial" panose="020B0604020202020204" pitchFamily="34" charset="0"/>
              </a:rPr>
              <a:t> service </a:t>
            </a:r>
            <a:r>
              <a:rPr lang="hu-HU" altLang="hu-HU" dirty="0" err="1">
                <a:latin typeface="Arial" panose="020B0604020202020204" pitchFamily="34" charset="0"/>
              </a:rPr>
              <a:t>that</a:t>
            </a:r>
            <a:r>
              <a:rPr lang="hu-HU" altLang="hu-HU" dirty="0">
                <a:latin typeface="Arial" panose="020B0604020202020204" pitchFamily="34" charset="0"/>
              </a:rPr>
              <a:t> </a:t>
            </a:r>
            <a:r>
              <a:rPr lang="hu-HU" altLang="hu-HU" dirty="0" err="1">
                <a:latin typeface="Arial" panose="020B0604020202020204" pitchFamily="34" charset="0"/>
              </a:rPr>
              <a:t>handles</a:t>
            </a:r>
            <a:r>
              <a:rPr lang="hu-HU" altLang="hu-HU" dirty="0">
                <a:latin typeface="Arial" panose="020B0604020202020204" pitchFamily="34" charset="0"/>
              </a:rPr>
              <a:t> </a:t>
            </a:r>
            <a:r>
              <a:rPr lang="hu-HU" altLang="hu-HU" dirty="0" err="1">
                <a:latin typeface="Arial" panose="020B0604020202020204" pitchFamily="34" charset="0"/>
              </a:rPr>
              <a:t>review-related</a:t>
            </a:r>
            <a:r>
              <a:rPr lang="hu-HU" altLang="hu-HU" dirty="0">
                <a:latin typeface="Arial" panose="020B0604020202020204" pitchFamily="34" charset="0"/>
              </a:rPr>
              <a:t> </a:t>
            </a:r>
            <a:r>
              <a:rPr lang="hu-HU" altLang="hu-HU" dirty="0" err="1">
                <a:latin typeface="Arial" panose="020B0604020202020204" pitchFamily="34" charset="0"/>
              </a:rPr>
              <a:t>data</a:t>
            </a:r>
            <a:r>
              <a:rPr lang="hu-HU" altLang="hu-HU" dirty="0">
                <a:latin typeface="Arial" panose="020B0604020202020204" pitchFamily="34" charset="0"/>
              </a:rPr>
              <a:t> </a:t>
            </a:r>
            <a:r>
              <a:rPr lang="hu-HU" altLang="hu-HU" dirty="0" err="1">
                <a:latin typeface="Arial" panose="020B0604020202020204" pitchFamily="34" charset="0"/>
              </a:rPr>
              <a:t>from</a:t>
            </a:r>
            <a:r>
              <a:rPr lang="hu-HU" altLang="hu-HU" dirty="0">
                <a:latin typeface="Arial" panose="020B0604020202020204" pitchFamily="34" charset="0"/>
              </a:rPr>
              <a:t> a local backend server </a:t>
            </a:r>
            <a:r>
              <a:rPr lang="hu-HU" altLang="hu-HU" dirty="0" err="1">
                <a:latin typeface="Arial" panose="020B0604020202020204" pitchFamily="34" charset="0"/>
              </a:rPr>
              <a:t>via</a:t>
            </a:r>
            <a:r>
              <a:rPr lang="hu-HU" altLang="hu-HU" dirty="0">
                <a:latin typeface="Arial" panose="020B0604020202020204" pitchFamily="34" charset="0"/>
              </a:rPr>
              <a:t> HTTP </a:t>
            </a:r>
            <a:r>
              <a:rPr lang="hu-HU" altLang="hu-HU" dirty="0" err="1">
                <a:latin typeface="Arial" panose="020B0604020202020204" pitchFamily="34" charset="0"/>
              </a:rPr>
              <a:t>requests</a:t>
            </a:r>
            <a:r>
              <a:rPr lang="hu-HU" altLang="hu-HU" dirty="0">
                <a:latin typeface="Arial" panose="020B0604020202020204" pitchFamily="34" charset="0"/>
              </a:rPr>
              <a:t>. It </a:t>
            </a:r>
            <a:r>
              <a:rPr lang="hu-HU" altLang="hu-HU" dirty="0" err="1">
                <a:latin typeface="Arial" panose="020B0604020202020204" pitchFamily="34" charset="0"/>
              </a:rPr>
              <a:t>allows</a:t>
            </a:r>
            <a:r>
              <a:rPr lang="hu-HU" altLang="hu-HU" dirty="0">
                <a:latin typeface="Arial" panose="020B0604020202020204" pitchFamily="34" charset="0"/>
              </a:rPr>
              <a:t> </a:t>
            </a:r>
            <a:r>
              <a:rPr lang="hu-HU" altLang="hu-HU" dirty="0" err="1">
                <a:latin typeface="Arial" panose="020B0604020202020204" pitchFamily="34" charset="0"/>
              </a:rPr>
              <a:t>reviews</a:t>
            </a:r>
            <a:r>
              <a:rPr lang="hu-HU" altLang="hu-HU" dirty="0">
                <a:latin typeface="Arial" panose="020B0604020202020204" pitchFamily="34" charset="0"/>
              </a:rPr>
              <a:t> </a:t>
            </a:r>
            <a:r>
              <a:rPr lang="hu-HU" altLang="hu-HU" dirty="0" err="1">
                <a:latin typeface="Arial" panose="020B0604020202020204" pitchFamily="34" charset="0"/>
              </a:rPr>
              <a:t>to</a:t>
            </a:r>
            <a:r>
              <a:rPr lang="hu-HU" altLang="hu-HU" dirty="0">
                <a:latin typeface="Arial" panose="020B0604020202020204" pitchFamily="34" charset="0"/>
              </a:rPr>
              <a:t> be </a:t>
            </a:r>
            <a:r>
              <a:rPr lang="hu-HU" altLang="hu-HU" dirty="0" err="1">
                <a:latin typeface="Arial" panose="020B0604020202020204" pitchFamily="34" charset="0"/>
              </a:rPr>
              <a:t>retrieved</a:t>
            </a:r>
            <a:r>
              <a:rPr lang="hu-HU" altLang="hu-HU" dirty="0">
                <a:latin typeface="Arial" panose="020B0604020202020204" pitchFamily="34" charset="0"/>
              </a:rPr>
              <a:t>, </a:t>
            </a:r>
            <a:r>
              <a:rPr lang="hu-HU" altLang="hu-HU" dirty="0" err="1">
                <a:latin typeface="Arial" panose="020B0604020202020204" pitchFamily="34" charset="0"/>
              </a:rPr>
              <a:t>added</a:t>
            </a:r>
            <a:r>
              <a:rPr lang="hu-HU" altLang="hu-HU" dirty="0">
                <a:latin typeface="Arial" panose="020B0604020202020204" pitchFamily="34" charset="0"/>
              </a:rPr>
              <a:t>, </a:t>
            </a:r>
            <a:r>
              <a:rPr lang="hu-HU" altLang="hu-HU" dirty="0" err="1">
                <a:latin typeface="Arial" panose="020B0604020202020204" pitchFamily="34" charset="0"/>
              </a:rPr>
              <a:t>deleted</a:t>
            </a:r>
            <a:r>
              <a:rPr lang="hu-HU" altLang="hu-HU" dirty="0">
                <a:latin typeface="Arial" panose="020B0604020202020204" pitchFamily="34" charset="0"/>
              </a:rPr>
              <a:t>, and </a:t>
            </a:r>
            <a:r>
              <a:rPr lang="hu-HU" altLang="hu-HU" dirty="0" err="1">
                <a:latin typeface="Arial" panose="020B0604020202020204" pitchFamily="34" charset="0"/>
              </a:rPr>
              <a:t>modified</a:t>
            </a:r>
            <a:r>
              <a:rPr lang="hu-HU" altLang="hu-HU" dirty="0">
                <a:latin typeface="Arial" panose="020B0604020202020204" pitchFamily="34" charset="0"/>
              </a:rPr>
              <a:t>, </a:t>
            </a:r>
            <a:r>
              <a:rPr lang="hu-HU" altLang="hu-HU" dirty="0" err="1">
                <a:latin typeface="Arial" panose="020B0604020202020204" pitchFamily="34" charset="0"/>
              </a:rPr>
              <a:t>ensuring</a:t>
            </a:r>
            <a:r>
              <a:rPr lang="hu-HU" altLang="hu-HU" dirty="0">
                <a:latin typeface="Arial" panose="020B0604020202020204" pitchFamily="34" charset="0"/>
              </a:rPr>
              <a:t> </a:t>
            </a:r>
            <a:r>
              <a:rPr lang="hu-HU" altLang="hu-HU" dirty="0" err="1">
                <a:latin typeface="Arial" panose="020B0604020202020204" pitchFamily="34" charset="0"/>
              </a:rPr>
              <a:t>full</a:t>
            </a:r>
            <a:r>
              <a:rPr lang="hu-HU" altLang="hu-HU" dirty="0">
                <a:latin typeface="Arial" panose="020B0604020202020204" pitchFamily="34" charset="0"/>
              </a:rPr>
              <a:t> </a:t>
            </a:r>
            <a:r>
              <a:rPr lang="hu-HU" altLang="hu-HU" dirty="0" err="1">
                <a:latin typeface="Arial" panose="020B0604020202020204" pitchFamily="34" charset="0"/>
              </a:rPr>
              <a:t>data</a:t>
            </a:r>
            <a:r>
              <a:rPr lang="hu-HU" altLang="hu-HU" dirty="0">
                <a:latin typeface="Arial" panose="020B0604020202020204" pitchFamily="34" charset="0"/>
              </a:rPr>
              <a:t> </a:t>
            </a:r>
            <a:r>
              <a:rPr lang="hu-HU" altLang="hu-HU" dirty="0" err="1">
                <a:latin typeface="Arial" panose="020B0604020202020204" pitchFamily="34" charset="0"/>
              </a:rPr>
              <a:t>synchronization</a:t>
            </a:r>
            <a:r>
              <a:rPr lang="hu-HU" altLang="hu-HU" dirty="0">
                <a:latin typeface="Arial" panose="020B0604020202020204" pitchFamily="34" charset="0"/>
              </a:rPr>
              <a:t> </a:t>
            </a:r>
            <a:r>
              <a:rPr lang="hu-HU" altLang="hu-HU" dirty="0" err="1">
                <a:latin typeface="Arial" panose="020B0604020202020204" pitchFamily="34" charset="0"/>
              </a:rPr>
              <a:t>between</a:t>
            </a:r>
            <a:r>
              <a:rPr lang="hu-HU" altLang="hu-HU" dirty="0">
                <a:latin typeface="Arial" panose="020B0604020202020204" pitchFamily="34" charset="0"/>
              </a:rPr>
              <a:t> </a:t>
            </a:r>
            <a:r>
              <a:rPr lang="hu-HU" altLang="hu-HU" dirty="0" err="1">
                <a:latin typeface="Arial" panose="020B0604020202020204" pitchFamily="34" charset="0"/>
              </a:rPr>
              <a:t>the</a:t>
            </a:r>
            <a:r>
              <a:rPr lang="hu-HU" altLang="hu-HU" dirty="0">
                <a:latin typeface="Arial" panose="020B0604020202020204" pitchFamily="34" charset="0"/>
              </a:rPr>
              <a:t> </a:t>
            </a:r>
            <a:r>
              <a:rPr lang="hu-HU" altLang="hu-HU" dirty="0" err="1">
                <a:latin typeface="Arial" panose="020B0604020202020204" pitchFamily="34" charset="0"/>
              </a:rPr>
              <a:t>interface</a:t>
            </a:r>
            <a:r>
              <a:rPr lang="hu-HU" altLang="hu-HU" dirty="0">
                <a:latin typeface="Arial" panose="020B0604020202020204" pitchFamily="34" charset="0"/>
              </a:rPr>
              <a:t> and </a:t>
            </a:r>
            <a:r>
              <a:rPr lang="hu-HU" altLang="hu-HU" dirty="0" err="1">
                <a:latin typeface="Arial" panose="020B0604020202020204" pitchFamily="34" charset="0"/>
              </a:rPr>
              <a:t>the</a:t>
            </a:r>
            <a:r>
              <a:rPr lang="hu-HU" altLang="hu-HU" dirty="0">
                <a:latin typeface="Arial" panose="020B0604020202020204" pitchFamily="34" charset="0"/>
              </a:rPr>
              <a:t> </a:t>
            </a:r>
            <a:r>
              <a:rPr lang="hu-HU" altLang="hu-HU" dirty="0" err="1">
                <a:latin typeface="Arial" panose="020B0604020202020204" pitchFamily="34" charset="0"/>
              </a:rPr>
              <a:t>database</a:t>
            </a:r>
            <a:r>
              <a:rPr lang="hu-HU" altLang="hu-HU" dirty="0">
                <a:latin typeface="Arial" panose="020B0604020202020204" pitchFamily="34" charset="0"/>
              </a:rPr>
              <a:t>.</a:t>
            </a:r>
          </a:p>
          <a:p>
            <a:endParaRPr lang="hu-HU" dirty="0"/>
          </a:p>
        </p:txBody>
      </p:sp>
      <p:pic>
        <p:nvPicPr>
          <p:cNvPr id="4" name="Kép 3"/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46" t="4242" r="3946" b="4040"/>
          <a:stretch/>
        </p:blipFill>
        <p:spPr>
          <a:xfrm>
            <a:off x="5409750" y="539530"/>
            <a:ext cx="6483928" cy="6039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97217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Admin</a:t>
            </a:r>
            <a:r>
              <a:rPr lang="hu-HU" dirty="0"/>
              <a:t> </a:t>
            </a:r>
            <a:r>
              <a:rPr lang="hu-HU" dirty="0" err="1"/>
              <a:t>dashbord</a:t>
            </a:r>
            <a:endParaRPr lang="hu-HU" dirty="0"/>
          </a:p>
        </p:txBody>
      </p:sp>
      <p:pic>
        <p:nvPicPr>
          <p:cNvPr id="4" name="Kép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0225" y="452718"/>
            <a:ext cx="5206435" cy="6041660"/>
          </a:xfrm>
          <a:prstGeom prst="rect">
            <a:avLst/>
          </a:prstGeom>
        </p:spPr>
      </p:pic>
      <p:sp>
        <p:nvSpPr>
          <p:cNvPr id="5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1103313" y="2442359"/>
            <a:ext cx="4617263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This HTML code creates an administration interface where the data of registered users (name, email, username, and role) are displayed in a table.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interface includes an important security feature: each row in the table has a delete button, but the system prevents users with the "admin" role from being deleted, thus preventing accidental self-deletion or loss of privileges.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hu-HU" altLang="hu-HU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03730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625E56-3697-B10C-7EEF-607FFAE99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Database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653565-52BB-9329-4B4E-9BD9DC20E3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7321" y="1488715"/>
            <a:ext cx="8946541" cy="1376082"/>
          </a:xfrm>
        </p:spPr>
        <p:txBody>
          <a:bodyPr/>
          <a:lstStyle/>
          <a:p>
            <a:r>
              <a:rPr lang="hu-HU" dirty="0"/>
              <a:t>Database name: maisondb</a:t>
            </a:r>
          </a:p>
          <a:p>
            <a:r>
              <a:rPr lang="hu-HU" dirty="0"/>
              <a:t>Character coding: UTF-8_hungarian_ci</a:t>
            </a:r>
          </a:p>
          <a:p>
            <a:r>
              <a:rPr lang="hu-HU" dirty="0"/>
              <a:t>5 tables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EE7E202-D129-D846-C692-CFAD94EDD6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911" y="3307021"/>
            <a:ext cx="11087910" cy="277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15803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317AC-30BD-755F-B790-21F6D0BD15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Visual representation of database</a:t>
            </a:r>
          </a:p>
        </p:txBody>
      </p:sp>
      <p:pic>
        <p:nvPicPr>
          <p:cNvPr id="4" name="Kép 5">
            <a:extLst>
              <a:ext uri="{FF2B5EF4-FFF2-40B4-BE49-F238E27FC236}">
                <a16:creationId xmlns:a16="http://schemas.microsoft.com/office/drawing/2014/main" id="{17E00C5E-853D-87CD-D9EF-54F9E7DA65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0951" y="1853248"/>
            <a:ext cx="7519388" cy="3989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99588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21DF3-02EB-6749-005E-285B3D546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Software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CD8A6F-9A96-3F1D-ADB6-56CADCED1F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During the test phasing we used the „Shift Left” method.	</a:t>
            </a:r>
          </a:p>
          <a:p>
            <a:r>
              <a:rPr lang="en-US" dirty="0"/>
              <a:t>"I utilized VS Code's built-in features to identify and fix semantic errors.</a:t>
            </a:r>
            <a:endParaRPr lang="hu-HU" dirty="0"/>
          </a:p>
          <a:p>
            <a:r>
              <a:rPr lang="hu-HU" dirty="0"/>
              <a:t>Besides that I used 4 testing strategies:</a:t>
            </a:r>
          </a:p>
          <a:p>
            <a:r>
              <a:rPr lang="hu-HU" dirty="0"/>
              <a:t>Unit Testing: testing methods and code modules izolated.</a:t>
            </a:r>
          </a:p>
          <a:p>
            <a:r>
              <a:rPr lang="hu-HU" dirty="0"/>
              <a:t>Integrating test: To test the frontend-backend and database connection.</a:t>
            </a:r>
          </a:p>
          <a:p>
            <a:r>
              <a:rPr lang="hu-HU" dirty="0"/>
              <a:t>White-box testing: To test the code inner structure, and logic.</a:t>
            </a:r>
          </a:p>
          <a:p>
            <a:r>
              <a:rPr lang="hu-HU" dirty="0"/>
              <a:t>Black-box testing: To test everyting from the users view.</a:t>
            </a:r>
          </a:p>
        </p:txBody>
      </p:sp>
    </p:spTree>
    <p:extLst>
      <p:ext uri="{BB962C8B-B14F-4D97-AF65-F5344CB8AC3E}">
        <p14:creationId xmlns:p14="http://schemas.microsoft.com/office/powerpoint/2010/main" val="21615310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Plans</a:t>
            </a:r>
            <a:r>
              <a:rPr lang="hu-HU" dirty="0"/>
              <a:t> </a:t>
            </a:r>
            <a:r>
              <a:rPr lang="hu-HU" dirty="0" err="1"/>
              <a:t>for</a:t>
            </a:r>
            <a:r>
              <a:rPr lang="hu-HU" dirty="0"/>
              <a:t>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future</a:t>
            </a:r>
            <a:endParaRPr lang="hu-HU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Implementation of </a:t>
            </a:r>
            <a:r>
              <a:rPr lang="en-US" dirty="0" err="1"/>
              <a:t>Nodemailer</a:t>
            </a:r>
            <a:r>
              <a:rPr lang="en-US" dirty="0"/>
              <a:t> in the backend so that we can send emails to users.</a:t>
            </a:r>
            <a:endParaRPr lang="hu-HU" dirty="0"/>
          </a:p>
          <a:p>
            <a:r>
              <a:rPr lang="en-US" dirty="0"/>
              <a:t>Payment option on the website.</a:t>
            </a:r>
            <a:endParaRPr lang="hu-HU" dirty="0"/>
          </a:p>
          <a:p>
            <a:r>
              <a:rPr lang="en-US" dirty="0"/>
              <a:t>Generation of electronic invoices on the site and linking to an electronic invoice generator site. (E.g.: </a:t>
            </a:r>
            <a:r>
              <a:rPr lang="en-US" dirty="0" err="1"/>
              <a:t>Billingo</a:t>
            </a:r>
            <a:r>
              <a:rPr lang="en-US" dirty="0"/>
              <a:t>)</a:t>
            </a:r>
            <a:r>
              <a:rPr lang="hu-HU" dirty="0"/>
              <a:t>	</a:t>
            </a:r>
          </a:p>
          <a:p>
            <a:r>
              <a:rPr lang="en-US" dirty="0"/>
              <a:t>Updating and expanding the database. In case of an order, e.g. (pending, accepted, declined)</a:t>
            </a:r>
            <a:endParaRPr lang="hu-HU" dirty="0"/>
          </a:p>
          <a:p>
            <a:r>
              <a:rPr lang="en-US" dirty="0"/>
              <a:t>Option for users to add a profile picture.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5749602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16FF9-E989-A3DF-4D4A-ABBDB78D77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821" y="3585024"/>
            <a:ext cx="9404723" cy="1400530"/>
          </a:xfrm>
        </p:spPr>
        <p:txBody>
          <a:bodyPr/>
          <a:lstStyle/>
          <a:p>
            <a:r>
              <a:rPr lang="hu-HU" dirty="0"/>
              <a:t>Thank you for the attention!</a:t>
            </a:r>
          </a:p>
        </p:txBody>
      </p:sp>
    </p:spTree>
    <p:extLst>
      <p:ext uri="{BB962C8B-B14F-4D97-AF65-F5344CB8AC3E}">
        <p14:creationId xmlns:p14="http://schemas.microsoft.com/office/powerpoint/2010/main" val="411552680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68</TotalTime>
  <Words>515</Words>
  <Application>Microsoft Office PowerPoint</Application>
  <PresentationFormat>Widescreen</PresentationFormat>
  <Paragraphs>62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Arial</vt:lpstr>
      <vt:lpstr>Century Gothic</vt:lpstr>
      <vt:lpstr>Wingdings 3</vt:lpstr>
      <vt:lpstr>Ion</vt:lpstr>
      <vt:lpstr>Maison De Parfum</vt:lpstr>
      <vt:lpstr>About The Project</vt:lpstr>
      <vt:lpstr>Backend</vt:lpstr>
      <vt:lpstr>Opinions Controller</vt:lpstr>
      <vt:lpstr>Server.js</vt:lpstr>
      <vt:lpstr>Frontend</vt:lpstr>
      <vt:lpstr>Opinions methods</vt:lpstr>
      <vt:lpstr>Admin dashbord</vt:lpstr>
      <vt:lpstr>Database</vt:lpstr>
      <vt:lpstr>Visual representation of database</vt:lpstr>
      <vt:lpstr>Software Testing</vt:lpstr>
      <vt:lpstr>Plans for the future</vt:lpstr>
      <vt:lpstr>Thank you for the attention!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Maison De Parfum</dc:title>
  <dc:creator>Deák Dóra</dc:creator>
  <cp:lastModifiedBy>Deák Dóra</cp:lastModifiedBy>
  <cp:revision>56</cp:revision>
  <dcterms:created xsi:type="dcterms:W3CDTF">2026-01-31T10:44:30Z</dcterms:created>
  <dcterms:modified xsi:type="dcterms:W3CDTF">2026-03-14T11:36:11Z</dcterms:modified>
</cp:coreProperties>
</file>